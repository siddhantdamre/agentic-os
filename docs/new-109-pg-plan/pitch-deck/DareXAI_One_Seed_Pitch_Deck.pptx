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PITCH SCRIPT:</a:t>
            </a:r>
          </a:p>
          <a:p>
            <a:r>
              <a:t>'Good morning. Over the past 20 years, software sold Systems of Record. But software didn't do the work—humans did. We are introducing DareXAI One: the Agentic Operating System allowing businesses to hire autonomous digital employees across Growth, Customer Support, and Operations. Raising $2.5M Seed to scale.'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PITCH SCRIPT:</a:t>
            </a:r>
          </a:p>
          <a:p>
            <a:r>
              <a:t>'A typical 50-person company spends $211,000 every year on junior headcount. These workers quit every 12 months, reply with an average 4.2-hour delay, and spend 60% of their workday copy-pasting between 14 software tabs. Businesses don't need another dashboard; they need the work done.'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PITCH SCRIPT:</a:t>
            </a:r>
          </a:p>
          <a:p>
            <a:r>
              <a:t>'We didn't build a copilot. A copilot is just autocomplete—the human still has to sit there. DareXAI One is an autonomous workforce. Companies hire pre-trained AI employees that take sovereign ownership of end-to-end responsibilities with human-in-the-loop safety.'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PITCH SCRIPT:</a:t>
            </a:r>
          </a:p>
          <a:p>
            <a:r>
              <a:t>'We built 3 distinct personas: Growth, Customer, and Operations. Crucially, they all connect to our Company Brain. When a customer messages on WhatsApp, the Customer Employee knows if they are also an active sales lead, and the Operations Employee monitors their billing status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PITCH SCRIPT:</a:t>
            </a:r>
          </a:p>
          <a:p>
            <a:r>
              <a:t>'At 10 PM on Sunday, a client asks to upgrade on WhatsApp. Traditionally, that sits in an inbox until Monday afternoon. With DareXAI, within 4 seconds the CFO receives a 1-click Slack Decision Brief. They tap Approve, and in 800 milliseconds Stripe, HubSpot, and WhatsApp are synced. Total time: 8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PITCH SCRIPT:</a:t>
            </a:r>
          </a:p>
          <a:p>
            <a:r>
              <a:t>'Why can't this be copied in a weekend? Because foundation models build intelligence; they don't build durable plumbing. We use Temporal Cloud: if a third-party server goes down for 3 hours, our workflow sleeps and resumes without dropping state. With 62 real MCP tool bridges and PostgreSQL RLS, this is industrial-grade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PITCH SCRIPT:</a:t>
            </a:r>
          </a:p>
          <a:p>
            <a:r>
              <a:t>'We are not competing for the $12B chatbot market. We are capturing corporate payroll. Software has historically captured 2% to 4% of enterprise revenue via seat licenses. Labor is 40% to 60% of corporate revenue. By capturing just 5,500 active fleets, DareXAI hits $25M ARR.'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PITCH SCRIPT:</a:t>
            </a:r>
          </a:p>
          <a:p>
            <a:r>
              <a:t>'We didn't come to you with wireframes. Our platform is live and verified: 76.4% autonomous resolution rate, sub-52 second reply latency, 62 production MCP connectors, and 18 mid-market enterprise pilots currently queued. We have Startup India DPIIT recognition and active grant filings.'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PITCH SCRIPT:</a:t>
            </a:r>
          </a:p>
          <a:p>
            <a:r>
              <a:t>'In AI SaaS, gross margin is where bad businesses die. We charge a base subscription plus Darex Work Credits (DWC). By routing 85% of queries to small models, our compute COGS is under $47/month. We deliver an 84.5% Gross Margin, a 3-month CAC payback, and 138% NRR.'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PITCH SCRIPT:</a:t>
            </a:r>
          </a:p>
          <a:p>
            <a:r>
              <a:t>'11x charges $50k upfront for an email SDR bot. Intercom taxes every seat and resolution. Sierra only serves Fortune 50 giants. DareXAI owns the massive white space: the 1.4 million mid-market businesses worldwide that need an accessible, unified digital workforce with global WhatsApp execution.'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PITCH SCRIPT:</a:t>
            </a:r>
          </a:p>
          <a:p>
            <a:r>
              <a:t>'Our acquisition flywheel is supercharged by our own product: our Growth Employee books 40% of our demos. We pair that with 14-day outcome-guaranteed pilots, 75 RevOps agency partners, and our international WhatsApp wedge where US competitors cannot compete.'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PITCH SCRIPT:</a:t>
            </a:r>
          </a:p>
          <a:p>
            <a:r>
              <a:t>'We are raising $2.5M at a $15M post-money valuation. With this capital, we have an 18-month runway to scale to 1,500 active fleets and $6.0M in ARR, setting up an exceptional Series A. We invite you to partner with us and lead this round. Thank you.'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PITCH SCRIPT:</a:t>
            </a:r>
          </a:p>
          <a:p>
            <a:r>
              <a:t>'Partners frequently ask about foundation model risk, hallucination liability, and compute margins. Our Temporal core, Autonomy Ladder, and Dynamic Model Cascading completely neutralize these risks.'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822960"/>
            <a:ext cx="9997135" cy="5212080"/>
          </a:xfrm>
          <a:prstGeom prst="roundRect">
            <a:avLst/>
          </a:prstGeom>
          <a:solidFill>
            <a:srgbClr val="141E1B"/>
          </a:solidFill>
          <a:ln w="19050">
            <a:solidFill>
              <a:srgbClr val="F0C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38190" y="1188720"/>
            <a:ext cx="914400" cy="914400"/>
          </a:xfrm>
          <a:prstGeom prst="roundRect">
            <a:avLst/>
          </a:prstGeom>
          <a:solidFill>
            <a:srgbClr val="F0C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38190" y="1261872"/>
            <a:ext cx="914400" cy="822960"/>
          </a:xfrm>
          <a:prstGeom prst="rect">
            <a:avLst/>
          </a:prstGeom>
          <a:noFill/>
        </p:spPr>
        <p:txBody>
          <a:bodyPr wrap="none">
            <a:spAutoFit/>
          </a:bodyPr>
          <a:lstStyle/>
          <a:p>
            <a:pPr algn="ctr">
              <a:defRPr sz="4000" b="1">
                <a:solidFill>
                  <a:srgbClr val="1E2B27"/>
                </a:solidFill>
                <a:latin typeface="Georgia"/>
              </a:defRPr>
            </a:pPr>
            <a:r>
              <a:t>D</a:t>
            </a:r>
          </a:p>
        </p:txBody>
      </p:sp>
      <p:sp>
        <p:nvSpPr>
          <p:cNvPr id="6" name="TextBox 5"/>
          <p:cNvSpPr txBox="1"/>
          <p:nvPr/>
        </p:nvSpPr>
        <p:spPr>
          <a:xfrm>
            <a:off x="1645920" y="2240280"/>
            <a:ext cx="8899855" cy="822960"/>
          </a:xfrm>
          <a:prstGeom prst="rect">
            <a:avLst/>
          </a:prstGeom>
          <a:noFill/>
        </p:spPr>
        <p:txBody>
          <a:bodyPr wrap="none">
            <a:spAutoFit/>
          </a:bodyPr>
          <a:lstStyle/>
          <a:p>
            <a:pPr algn="ctr">
              <a:defRPr sz="4600" b="1">
                <a:solidFill>
                  <a:srgbClr val="FAF9F0"/>
                </a:solidFill>
                <a:latin typeface="Georgia"/>
              </a:defRPr>
            </a:pPr>
            <a:r>
              <a:t>DareXAI One</a:t>
            </a:r>
          </a:p>
        </p:txBody>
      </p:sp>
      <p:sp>
        <p:nvSpPr>
          <p:cNvPr id="7" name="TextBox 6"/>
          <p:cNvSpPr txBox="1"/>
          <p:nvPr/>
        </p:nvSpPr>
        <p:spPr>
          <a:xfrm>
            <a:off x="1645920" y="3063240"/>
            <a:ext cx="8899855" cy="777240"/>
          </a:xfrm>
          <a:prstGeom prst="rect">
            <a:avLst/>
          </a:prstGeom>
          <a:noFill/>
        </p:spPr>
        <p:txBody>
          <a:bodyPr wrap="square">
            <a:spAutoFit/>
          </a:bodyPr>
          <a:lstStyle/>
          <a:p>
            <a:pPr algn="ctr">
              <a:defRPr sz="2000" b="1">
                <a:solidFill>
                  <a:srgbClr val="F0C05A"/>
                </a:solidFill>
                <a:latin typeface="Georgia"/>
              </a:defRPr>
            </a:pPr>
            <a:r>
              <a:t>The Agentic Operating System for the Autonomous Enterprise</a:t>
            </a:r>
          </a:p>
          <a:p>
            <a:pPr algn="ctr">
              <a:spcBef>
                <a:spcPts val="400"/>
              </a:spcBef>
              <a:defRPr sz="1300">
                <a:solidFill>
                  <a:srgbClr val="F5F2D8"/>
                </a:solidFill>
                <a:latin typeface="Arial"/>
              </a:defRPr>
            </a:pPr>
            <a:r>
              <a:t>Hire Pre-Trained Autonomous AI Employees for Growth, Customer Support &amp; Operations</a:t>
            </a:r>
          </a:p>
        </p:txBody>
      </p:sp>
      <p:sp>
        <p:nvSpPr>
          <p:cNvPr id="8" name="Rounded Rectangle 7"/>
          <p:cNvSpPr/>
          <p:nvPr/>
        </p:nvSpPr>
        <p:spPr>
          <a:xfrm>
            <a:off x="1645920" y="4069080"/>
            <a:ext cx="2743200" cy="777240"/>
          </a:xfrm>
          <a:prstGeom prst="roundRect">
            <a:avLst/>
          </a:prstGeom>
          <a:solidFill>
            <a:srgbClr val="2E423C"/>
          </a:solidFill>
          <a:ln w="1016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45920" y="4160520"/>
            <a:ext cx="2743200" cy="640080"/>
          </a:xfrm>
          <a:prstGeom prst="rect">
            <a:avLst/>
          </a:prstGeom>
          <a:noFill/>
        </p:spPr>
        <p:txBody>
          <a:bodyPr wrap="none">
            <a:spAutoFit/>
          </a:bodyPr>
          <a:lstStyle/>
          <a:p>
            <a:pPr algn="ctr">
              <a:defRPr sz="1200" b="1">
                <a:solidFill>
                  <a:srgbClr val="F0C05A"/>
                </a:solidFill>
                <a:latin typeface="Georgia"/>
              </a:defRPr>
            </a:pPr>
            <a:r>
              <a:t>100% Durable State</a:t>
            </a:r>
          </a:p>
          <a:p>
            <a:pPr algn="ctr">
              <a:defRPr sz="950">
                <a:solidFill>
                  <a:srgbClr val="FAF9F0"/>
                </a:solidFill>
                <a:latin typeface="Arial"/>
              </a:defRPr>
            </a:pPr>
            <a:r>
              <a:t>Temporal Cloud Engine Core</a:t>
            </a:r>
          </a:p>
        </p:txBody>
      </p:sp>
      <p:sp>
        <p:nvSpPr>
          <p:cNvPr id="10" name="Rounded Rectangle 9"/>
          <p:cNvSpPr/>
          <p:nvPr/>
        </p:nvSpPr>
        <p:spPr>
          <a:xfrm>
            <a:off x="4754880" y="4069080"/>
            <a:ext cx="2743200" cy="777240"/>
          </a:xfrm>
          <a:prstGeom prst="roundRect">
            <a:avLst/>
          </a:prstGeom>
          <a:solidFill>
            <a:srgbClr val="2E423C"/>
          </a:solidFill>
          <a:ln w="1016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4160520"/>
            <a:ext cx="2743200" cy="640080"/>
          </a:xfrm>
          <a:prstGeom prst="rect">
            <a:avLst/>
          </a:prstGeom>
          <a:noFill/>
        </p:spPr>
        <p:txBody>
          <a:bodyPr wrap="none">
            <a:spAutoFit/>
          </a:bodyPr>
          <a:lstStyle/>
          <a:p>
            <a:pPr algn="ctr">
              <a:defRPr sz="1200" b="1">
                <a:solidFill>
                  <a:srgbClr val="F0C05A"/>
                </a:solidFill>
                <a:latin typeface="Georgia"/>
              </a:defRPr>
            </a:pPr>
            <a:r>
              <a:t>62 Enterprise Tools</a:t>
            </a:r>
          </a:p>
          <a:p>
            <a:pPr algn="ctr">
              <a:defRPr sz="950">
                <a:solidFill>
                  <a:srgbClr val="FAF9F0"/>
                </a:solidFill>
                <a:latin typeface="Arial"/>
              </a:defRPr>
            </a:pPr>
            <a:r>
              <a:t>MCP Protocol Server on :8790</a:t>
            </a:r>
          </a:p>
        </p:txBody>
      </p:sp>
      <p:sp>
        <p:nvSpPr>
          <p:cNvPr id="12" name="Rounded Rectangle 11"/>
          <p:cNvSpPr/>
          <p:nvPr/>
        </p:nvSpPr>
        <p:spPr>
          <a:xfrm>
            <a:off x="7863840" y="4069080"/>
            <a:ext cx="2743200" cy="777240"/>
          </a:xfrm>
          <a:prstGeom prst="roundRect">
            <a:avLst/>
          </a:prstGeom>
          <a:solidFill>
            <a:srgbClr val="2E423C"/>
          </a:solidFill>
          <a:ln w="1016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4160520"/>
            <a:ext cx="2743200" cy="640080"/>
          </a:xfrm>
          <a:prstGeom prst="rect">
            <a:avLst/>
          </a:prstGeom>
          <a:noFill/>
        </p:spPr>
        <p:txBody>
          <a:bodyPr wrap="none">
            <a:spAutoFit/>
          </a:bodyPr>
          <a:lstStyle/>
          <a:p>
            <a:pPr algn="ctr">
              <a:defRPr sz="1200" b="1">
                <a:solidFill>
                  <a:srgbClr val="F0C05A"/>
                </a:solidFill>
                <a:latin typeface="Georgia"/>
              </a:defRPr>
            </a:pPr>
            <a:r>
              <a:t>Shared Company Brain</a:t>
            </a:r>
          </a:p>
          <a:p>
            <a:pPr algn="ctr">
              <a:defRPr sz="950">
                <a:solidFill>
                  <a:srgbClr val="FAF9F0"/>
                </a:solidFill>
                <a:latin typeface="Arial"/>
              </a:defRPr>
            </a:pPr>
            <a:r>
              <a:t>PostgreSQL pgvector &amp; RLS</a:t>
            </a:r>
          </a:p>
        </p:txBody>
      </p:sp>
      <p:sp>
        <p:nvSpPr>
          <p:cNvPr id="14" name="TextBox 13"/>
          <p:cNvSpPr txBox="1"/>
          <p:nvPr/>
        </p:nvSpPr>
        <p:spPr>
          <a:xfrm>
            <a:off x="1645920" y="5166360"/>
            <a:ext cx="8899855" cy="411480"/>
          </a:xfrm>
          <a:prstGeom prst="rect">
            <a:avLst/>
          </a:prstGeom>
          <a:noFill/>
        </p:spPr>
        <p:txBody>
          <a:bodyPr wrap="none">
            <a:spAutoFit/>
          </a:bodyPr>
          <a:lstStyle/>
          <a:p>
            <a:pPr algn="ctr">
              <a:defRPr sz="1200" b="1">
                <a:solidFill>
                  <a:srgbClr val="F0C05A"/>
                </a:solidFill>
                <a:latin typeface="Arial"/>
              </a:defRPr>
            </a:pPr>
            <a:r>
              <a:t>SEED ROUND: $2,500,000 USD  |  $15,000,000 POST-MONEY VALUATION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320040"/>
          </a:xfrm>
          <a:prstGeom prst="rect">
            <a:avLst/>
          </a:prstGeom>
          <a:noFill/>
        </p:spPr>
        <p:txBody>
          <a:bodyPr wrap="square" lIns="0" tIns="0" rIns="0" bIns="0">
            <a:spAutoFit/>
          </a:bodyPr>
          <a:lstStyle/>
          <a:p>
            <a:pPr>
              <a:defRPr sz="1050" b="1">
                <a:solidFill>
                  <a:srgbClr val="D9A53D"/>
                </a:solidFill>
                <a:latin typeface="Arial"/>
              </a:defRPr>
            </a:pPr>
            <a:r>
              <a:t>THE CRISIS IN KNOWLEDGE WORK</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500" b="1">
                <a:solidFill>
                  <a:srgbClr val="1E2B27"/>
                </a:solidFill>
                <a:latin typeface="Georgia"/>
              </a:defRPr>
            </a:pPr>
            <a:r>
              <a:t>The $211,000 Human Latency Tax</a:t>
            </a:r>
          </a:p>
        </p:txBody>
      </p:sp>
      <p:sp>
        <p:nvSpPr>
          <p:cNvPr id="5" name="TextBox 4"/>
          <p:cNvSpPr txBox="1"/>
          <p:nvPr/>
        </p:nvSpPr>
        <p:spPr>
          <a:xfrm>
            <a:off x="731520" y="1280160"/>
            <a:ext cx="10698480" cy="411480"/>
          </a:xfrm>
          <a:prstGeom prst="rect">
            <a:avLst/>
          </a:prstGeom>
          <a:noFill/>
        </p:spPr>
        <p:txBody>
          <a:bodyPr wrap="square" lIns="0" tIns="0" rIns="0" bIns="0">
            <a:spAutoFit/>
          </a:bodyPr>
          <a:lstStyle/>
          <a:p>
            <a:pPr>
              <a:defRPr sz="1250">
                <a:solidFill>
                  <a:srgbClr val="64748B"/>
                </a:solidFill>
                <a:latin typeface="Arial"/>
              </a:defRPr>
            </a:pPr>
            <a:r>
              <a:t>Mid-market businesses (10–250 employees) are suffocating under junior headcount costs and tool fragmentation.</a:t>
            </a:r>
          </a:p>
        </p:txBody>
      </p:sp>
      <p:sp>
        <p:nvSpPr>
          <p:cNvPr id="6" name="Rounded Rectangle 5"/>
          <p:cNvSpPr/>
          <p:nvPr/>
        </p:nvSpPr>
        <p:spPr>
          <a:xfrm>
            <a:off x="731520" y="1828800"/>
            <a:ext cx="3383280" cy="256032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11680"/>
            <a:ext cx="2926080" cy="548640"/>
          </a:xfrm>
          <a:prstGeom prst="rect">
            <a:avLst/>
          </a:prstGeom>
          <a:noFill/>
        </p:spPr>
        <p:txBody>
          <a:bodyPr wrap="none">
            <a:spAutoFit/>
          </a:bodyPr>
          <a:lstStyle/>
          <a:p>
            <a:pPr>
              <a:defRPr sz="2600" b="1">
                <a:solidFill>
                  <a:srgbClr val="9F1239"/>
                </a:solidFill>
                <a:latin typeface="Georgia"/>
              </a:defRPr>
            </a:pPr>
            <a:r>
              <a:t>$211,000 / yr</a:t>
            </a:r>
          </a:p>
        </p:txBody>
      </p:sp>
      <p:sp>
        <p:nvSpPr>
          <p:cNvPr id="8" name="TextBox 7"/>
          <p:cNvSpPr txBox="1"/>
          <p:nvPr/>
        </p:nvSpPr>
        <p:spPr>
          <a:xfrm>
            <a:off x="960120" y="2560320"/>
            <a:ext cx="2926080" cy="320040"/>
          </a:xfrm>
          <a:prstGeom prst="rect">
            <a:avLst/>
          </a:prstGeom>
          <a:noFill/>
        </p:spPr>
        <p:txBody>
          <a:bodyPr wrap="none">
            <a:spAutoFit/>
          </a:bodyPr>
          <a:lstStyle/>
          <a:p>
            <a:pPr>
              <a:defRPr sz="1300" b="1">
                <a:solidFill>
                  <a:srgbClr val="1E2B27"/>
                </a:solidFill>
                <a:latin typeface="Georgia"/>
              </a:defRPr>
            </a:pPr>
            <a:r>
              <a:t>Crippling Headcount Cost</a:t>
            </a:r>
          </a:p>
        </p:txBody>
      </p:sp>
      <p:sp>
        <p:nvSpPr>
          <p:cNvPr id="9" name="TextBox 8"/>
          <p:cNvSpPr txBox="1"/>
          <p:nvPr/>
        </p:nvSpPr>
        <p:spPr>
          <a:xfrm>
            <a:off x="960120" y="2926080"/>
            <a:ext cx="2926080" cy="1280160"/>
          </a:xfrm>
          <a:prstGeom prst="rect">
            <a:avLst/>
          </a:prstGeom>
          <a:noFill/>
        </p:spPr>
        <p:txBody>
          <a:bodyPr wrap="square">
            <a:spAutoFit/>
          </a:bodyPr>
          <a:lstStyle/>
          <a:p>
            <a:pPr>
              <a:defRPr sz="1050">
                <a:solidFill>
                  <a:srgbClr val="334155"/>
                </a:solidFill>
                <a:latin typeface="Arial"/>
              </a:defRPr>
            </a:pPr>
            <a:r>
              <a:t>Mid-market firms spend $175k–$250k/yr on junior SDRs ($65k), support ($52k), and ops ($58k) for mechanical copy-pasting.</a:t>
            </a:r>
          </a:p>
        </p:txBody>
      </p:sp>
      <p:sp>
        <p:nvSpPr>
          <p:cNvPr id="10" name="Rounded Rectangle 9"/>
          <p:cNvSpPr/>
          <p:nvPr/>
        </p:nvSpPr>
        <p:spPr>
          <a:xfrm>
            <a:off x="4343400" y="1828800"/>
            <a:ext cx="3383280" cy="256032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011680"/>
            <a:ext cx="2926080" cy="548640"/>
          </a:xfrm>
          <a:prstGeom prst="rect">
            <a:avLst/>
          </a:prstGeom>
          <a:noFill/>
        </p:spPr>
        <p:txBody>
          <a:bodyPr wrap="none">
            <a:spAutoFit/>
          </a:bodyPr>
          <a:lstStyle/>
          <a:p>
            <a:pPr>
              <a:defRPr sz="2600" b="1">
                <a:solidFill>
                  <a:srgbClr val="D9A53D"/>
                </a:solidFill>
                <a:latin typeface="Georgia"/>
              </a:defRPr>
            </a:pPr>
            <a:r>
              <a:t>4.2 Hours</a:t>
            </a:r>
          </a:p>
        </p:txBody>
      </p:sp>
      <p:sp>
        <p:nvSpPr>
          <p:cNvPr id="12" name="TextBox 11"/>
          <p:cNvSpPr txBox="1"/>
          <p:nvPr/>
        </p:nvSpPr>
        <p:spPr>
          <a:xfrm>
            <a:off x="4572000" y="2560320"/>
            <a:ext cx="2926080" cy="320040"/>
          </a:xfrm>
          <a:prstGeom prst="rect">
            <a:avLst/>
          </a:prstGeom>
          <a:noFill/>
        </p:spPr>
        <p:txBody>
          <a:bodyPr wrap="none">
            <a:spAutoFit/>
          </a:bodyPr>
          <a:lstStyle/>
          <a:p>
            <a:pPr>
              <a:defRPr sz="1300" b="1">
                <a:solidFill>
                  <a:srgbClr val="1E2B27"/>
                </a:solidFill>
                <a:latin typeface="Georgia"/>
              </a:defRPr>
            </a:pPr>
            <a:r>
              <a:t>Fatal Reply Latency</a:t>
            </a:r>
          </a:p>
        </p:txBody>
      </p:sp>
      <p:sp>
        <p:nvSpPr>
          <p:cNvPr id="13" name="TextBox 12"/>
          <p:cNvSpPr txBox="1"/>
          <p:nvPr/>
        </p:nvSpPr>
        <p:spPr>
          <a:xfrm>
            <a:off x="4572000" y="2926080"/>
            <a:ext cx="2926080" cy="1280160"/>
          </a:xfrm>
          <a:prstGeom prst="rect">
            <a:avLst/>
          </a:prstGeom>
          <a:noFill/>
        </p:spPr>
        <p:txBody>
          <a:bodyPr wrap="square">
            <a:spAutoFit/>
          </a:bodyPr>
          <a:lstStyle/>
          <a:p>
            <a:pPr>
              <a:defRPr sz="1050">
                <a:solidFill>
                  <a:srgbClr val="334155"/>
                </a:solidFill>
                <a:latin typeface="Arial"/>
              </a:defRPr>
            </a:pPr>
            <a:r>
              <a:t>78% of buyers purchase from the vendor that replies first. A 30-minute delay drops conversion by 391%, burning 35% of pipeline.</a:t>
            </a:r>
          </a:p>
        </p:txBody>
      </p:sp>
      <p:sp>
        <p:nvSpPr>
          <p:cNvPr id="14" name="Rounded Rectangle 13"/>
          <p:cNvSpPr/>
          <p:nvPr/>
        </p:nvSpPr>
        <p:spPr>
          <a:xfrm>
            <a:off x="7955280" y="1828800"/>
            <a:ext cx="3383280" cy="256032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80" y="2011680"/>
            <a:ext cx="2926080" cy="548640"/>
          </a:xfrm>
          <a:prstGeom prst="rect">
            <a:avLst/>
          </a:prstGeom>
          <a:noFill/>
        </p:spPr>
        <p:txBody>
          <a:bodyPr wrap="none">
            <a:spAutoFit/>
          </a:bodyPr>
          <a:lstStyle/>
          <a:p>
            <a:pPr>
              <a:defRPr sz="2600" b="1">
                <a:solidFill>
                  <a:srgbClr val="1E2B27"/>
                </a:solidFill>
                <a:latin typeface="Georgia"/>
              </a:defRPr>
            </a:pPr>
            <a:r>
              <a:t>45% Annual Churn</a:t>
            </a:r>
          </a:p>
        </p:txBody>
      </p:sp>
      <p:sp>
        <p:nvSpPr>
          <p:cNvPr id="16" name="TextBox 15"/>
          <p:cNvSpPr txBox="1"/>
          <p:nvPr/>
        </p:nvSpPr>
        <p:spPr>
          <a:xfrm>
            <a:off x="8183880" y="2560320"/>
            <a:ext cx="2926080" cy="320040"/>
          </a:xfrm>
          <a:prstGeom prst="rect">
            <a:avLst/>
          </a:prstGeom>
          <a:noFill/>
        </p:spPr>
        <p:txBody>
          <a:bodyPr wrap="none">
            <a:spAutoFit/>
          </a:bodyPr>
          <a:lstStyle/>
          <a:p>
            <a:pPr>
              <a:defRPr sz="1300" b="1">
                <a:solidFill>
                  <a:srgbClr val="1E2B27"/>
                </a:solidFill>
                <a:latin typeface="Georgia"/>
              </a:defRPr>
            </a:pPr>
            <a:r>
              <a:t>90-Day Ramp Wiped Out</a:t>
            </a:r>
          </a:p>
        </p:txBody>
      </p:sp>
      <p:sp>
        <p:nvSpPr>
          <p:cNvPr id="17" name="TextBox 16"/>
          <p:cNvSpPr txBox="1"/>
          <p:nvPr/>
        </p:nvSpPr>
        <p:spPr>
          <a:xfrm>
            <a:off x="8183880" y="2926080"/>
            <a:ext cx="2926080" cy="1280160"/>
          </a:xfrm>
          <a:prstGeom prst="rect">
            <a:avLst/>
          </a:prstGeom>
          <a:noFill/>
        </p:spPr>
        <p:txBody>
          <a:bodyPr wrap="square">
            <a:spAutoFit/>
          </a:bodyPr>
          <a:lstStyle/>
          <a:p>
            <a:pPr>
              <a:defRPr sz="1050">
                <a:solidFill>
                  <a:srgbClr val="334155"/>
                </a:solidFill>
                <a:latin typeface="Arial"/>
              </a:defRPr>
            </a:pPr>
            <a:r>
              <a:t>Frontline staff leave every 11–14 months. Tribal knowledge disappears with every resignation, forcing perpetual onboarding.</a:t>
            </a:r>
          </a:p>
        </p:txBody>
      </p:sp>
      <p:sp>
        <p:nvSpPr>
          <p:cNvPr id="18" name="Rounded Rectangle 17"/>
          <p:cNvSpPr/>
          <p:nvPr/>
        </p:nvSpPr>
        <p:spPr>
          <a:xfrm>
            <a:off x="731520" y="4617720"/>
            <a:ext cx="10698480" cy="1645920"/>
          </a:xfrm>
          <a:prstGeom prst="roundRect">
            <a:avLst/>
          </a:prstGeom>
          <a:solidFill>
            <a:srgbClr val="F5F2D8"/>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754880"/>
            <a:ext cx="10149840" cy="1371600"/>
          </a:xfrm>
          <a:prstGeom prst="rect">
            <a:avLst/>
          </a:prstGeom>
          <a:noFill/>
        </p:spPr>
        <p:txBody>
          <a:bodyPr wrap="square">
            <a:spAutoFit/>
          </a:bodyPr>
          <a:lstStyle/>
          <a:p>
            <a:pPr>
              <a:defRPr sz="1200" b="1">
                <a:solidFill>
                  <a:srgbClr val="1E2B27"/>
                </a:solidFill>
                <a:latin typeface="Georgia"/>
              </a:defRPr>
            </a:pPr>
            <a:r>
              <a:t>THE SAAS FRAGMENTATION TRAP: 14 TOOLS, ZERO SYNCHRONIZATION</a:t>
            </a:r>
          </a:p>
          <a:p>
            <a:pPr>
              <a:spcBef>
                <a:spcPts val="600"/>
              </a:spcBef>
              <a:defRPr sz="1100">
                <a:solidFill>
                  <a:srgbClr val="334155"/>
                </a:solidFill>
                <a:latin typeface="Arial"/>
              </a:defRPr>
            </a:pPr>
            <a:r>
              <a:t>The average 50-person company pays $3,500/month for 14 disconnected SaaS subscriptions (HubSpot, Zendesk, Stripe, Slack, Gmail, Excel). Human employees spend 60% of their workday acting as 'human glue' manually transferring data across tabs. Businesses don't need another dashboard; they need the work completed.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320040"/>
          </a:xfrm>
          <a:prstGeom prst="rect">
            <a:avLst/>
          </a:prstGeom>
          <a:noFill/>
        </p:spPr>
        <p:txBody>
          <a:bodyPr wrap="square" lIns="0" tIns="0" rIns="0" bIns="0">
            <a:spAutoFit/>
          </a:bodyPr>
          <a:lstStyle/>
          <a:p>
            <a:pPr>
              <a:defRPr sz="1050" b="1">
                <a:solidFill>
                  <a:srgbClr val="D9A53D"/>
                </a:solidFill>
                <a:latin typeface="Arial"/>
              </a:defRPr>
            </a:pPr>
            <a:r>
              <a:t>THE PARADIGM SHIFT</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500" b="1">
                <a:solidFill>
                  <a:srgbClr val="1E2B27"/>
                </a:solidFill>
                <a:latin typeface="Georgia"/>
              </a:defRPr>
            </a:pPr>
            <a:r>
              <a:t>You Don't Buy Software. You Hire AI Employees.</a:t>
            </a:r>
          </a:p>
        </p:txBody>
      </p:sp>
      <p:sp>
        <p:nvSpPr>
          <p:cNvPr id="5" name="TextBox 4"/>
          <p:cNvSpPr txBox="1"/>
          <p:nvPr/>
        </p:nvSpPr>
        <p:spPr>
          <a:xfrm>
            <a:off x="731520" y="1280160"/>
            <a:ext cx="10698480" cy="411480"/>
          </a:xfrm>
          <a:prstGeom prst="rect">
            <a:avLst/>
          </a:prstGeom>
          <a:noFill/>
        </p:spPr>
        <p:txBody>
          <a:bodyPr wrap="square" lIns="0" tIns="0" rIns="0" bIns="0">
            <a:spAutoFit/>
          </a:bodyPr>
          <a:lstStyle/>
          <a:p>
            <a:pPr>
              <a:defRPr sz="1250">
                <a:solidFill>
                  <a:srgbClr val="64748B"/>
                </a:solidFill>
                <a:latin typeface="Arial"/>
              </a:defRPr>
            </a:pPr>
            <a:r>
              <a:t>DareXAI One transforms manual human operational labor into autonomous, high-velocity digital execution.</a:t>
            </a:r>
          </a:p>
        </p:txBody>
      </p:sp>
      <p:sp>
        <p:nvSpPr>
          <p:cNvPr id="6" name="Rounded Rectangle 5"/>
          <p:cNvSpPr/>
          <p:nvPr/>
        </p:nvSpPr>
        <p:spPr>
          <a:xfrm>
            <a:off x="731520" y="1828800"/>
            <a:ext cx="5212080" cy="438912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4663440" cy="3931920"/>
          </a:xfrm>
          <a:prstGeom prst="rect">
            <a:avLst/>
          </a:prstGeom>
          <a:noFill/>
        </p:spPr>
        <p:txBody>
          <a:bodyPr wrap="square">
            <a:spAutoFit/>
          </a:bodyPr>
          <a:lstStyle/>
          <a:p>
            <a:pPr>
              <a:defRPr sz="1300" b="1">
                <a:solidFill>
                  <a:srgbClr val="9F1239"/>
                </a:solidFill>
                <a:latin typeface="Georgia"/>
              </a:defRPr>
            </a:pPr>
            <a:r>
              <a:t>THE OLD PARADIGM: HUMAN TOOL STACK</a:t>
            </a:r>
          </a:p>
          <a:p>
            <a:pPr>
              <a:spcBef>
                <a:spcPts val="1000"/>
              </a:spcBef>
              <a:defRPr sz="1100">
                <a:solidFill>
                  <a:srgbClr val="334155"/>
                </a:solidFill>
                <a:latin typeface="Arial"/>
              </a:defRPr>
            </a:pPr>
            <a:r>
              <a:t>• Payroll Burden: $175,000 – $250,000 / year in junior wages &amp; taxes</a:t>
            </a:r>
          </a:p>
          <a:p>
            <a:pPr>
              <a:spcBef>
                <a:spcPts val="1000"/>
              </a:spcBef>
              <a:defRPr sz="1100">
                <a:solidFill>
                  <a:srgbClr val="334155"/>
                </a:solidFill>
                <a:latin typeface="Arial"/>
              </a:defRPr>
            </a:pPr>
            <a:r>
              <a:t>• Brutal Latency: 4.2-hour average response time across channels</a:t>
            </a:r>
          </a:p>
          <a:p>
            <a:pPr>
              <a:spcBef>
                <a:spcPts val="1000"/>
              </a:spcBef>
              <a:defRPr sz="1100">
                <a:solidFill>
                  <a:srgbClr val="334155"/>
                </a:solidFill>
                <a:latin typeface="Arial"/>
              </a:defRPr>
            </a:pPr>
            <a:r>
              <a:t>• Limited Hours: 8 hours/day, 5 days/week (Zero weekend coverage)</a:t>
            </a:r>
          </a:p>
          <a:p>
            <a:pPr>
              <a:spcBef>
                <a:spcPts val="1000"/>
              </a:spcBef>
              <a:defRPr sz="1100">
                <a:solidFill>
                  <a:srgbClr val="334155"/>
                </a:solidFill>
                <a:latin typeface="Arial"/>
              </a:defRPr>
            </a:pPr>
            <a:r>
              <a:t>• Severe Churn: 45% annual turnover; 90-day retraining cycle</a:t>
            </a:r>
          </a:p>
          <a:p>
            <a:pPr>
              <a:spcBef>
                <a:spcPts val="1000"/>
              </a:spcBef>
              <a:defRPr sz="1100">
                <a:solidFill>
                  <a:srgbClr val="334155"/>
                </a:solidFill>
                <a:latin typeface="Arial"/>
              </a:defRPr>
            </a:pPr>
            <a:r>
              <a:t>• Throughput Cap: Bottlenecked by manual typing and human fatigue</a:t>
            </a:r>
          </a:p>
          <a:p>
            <a:pPr>
              <a:spcBef>
                <a:spcPts val="1000"/>
              </a:spcBef>
              <a:defRPr sz="1100">
                <a:solidFill>
                  <a:srgbClr val="334155"/>
                </a:solidFill>
                <a:latin typeface="Arial"/>
              </a:defRPr>
            </a:pPr>
            <a:r>
              <a:t>• Disconnection: 14 fragmented SaaS tools without synchronization</a:t>
            </a:r>
          </a:p>
        </p:txBody>
      </p:sp>
      <p:sp>
        <p:nvSpPr>
          <p:cNvPr id="8" name="Rounded Rectangle 7"/>
          <p:cNvSpPr/>
          <p:nvPr/>
        </p:nvSpPr>
        <p:spPr>
          <a:xfrm>
            <a:off x="6217920" y="1828800"/>
            <a:ext cx="5212080" cy="4389120"/>
          </a:xfrm>
          <a:prstGeom prst="roundRect">
            <a:avLst/>
          </a:prstGeom>
          <a:solidFill>
            <a:srgbClr val="1E2B27"/>
          </a:solidFill>
          <a:ln w="19050">
            <a:solidFill>
              <a:srgbClr val="F0C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011680"/>
            <a:ext cx="4663440" cy="3931920"/>
          </a:xfrm>
          <a:prstGeom prst="rect">
            <a:avLst/>
          </a:prstGeom>
          <a:noFill/>
        </p:spPr>
        <p:txBody>
          <a:bodyPr wrap="square">
            <a:spAutoFit/>
          </a:bodyPr>
          <a:lstStyle/>
          <a:p>
            <a:pPr>
              <a:defRPr sz="1300" b="1">
                <a:solidFill>
                  <a:srgbClr val="F0C05A"/>
                </a:solidFill>
                <a:latin typeface="Georgia"/>
              </a:defRPr>
            </a:pPr>
            <a:r>
              <a:t>DAREXAI ONE: AUTONOMOUS AI WORKFORCE</a:t>
            </a:r>
          </a:p>
          <a:p>
            <a:pPr>
              <a:spcBef>
                <a:spcPts val="1000"/>
              </a:spcBef>
              <a:defRPr sz="1100">
                <a:solidFill>
                  <a:srgbClr val="FAF9F0"/>
                </a:solidFill>
                <a:latin typeface="Arial"/>
              </a:defRPr>
            </a:pPr>
            <a:r>
              <a:t>✓ Cost: $3,588 / year fleet ($299/mo) — 94% Immediate Cost Reduction</a:t>
            </a:r>
          </a:p>
          <a:p>
            <a:pPr>
              <a:spcBef>
                <a:spcPts val="1000"/>
              </a:spcBef>
              <a:defRPr sz="1100">
                <a:solidFill>
                  <a:srgbClr val="FAF9F0"/>
                </a:solidFill>
                <a:latin typeface="Arial"/>
              </a:defRPr>
            </a:pPr>
            <a:r>
              <a:t>✓ Speed: &lt;52-second instant multi-channel resolution</a:t>
            </a:r>
          </a:p>
          <a:p>
            <a:pPr>
              <a:spcBef>
                <a:spcPts val="1000"/>
              </a:spcBef>
              <a:defRPr sz="1100">
                <a:solidFill>
                  <a:srgbClr val="FAF9F0"/>
                </a:solidFill>
                <a:latin typeface="Arial"/>
              </a:defRPr>
            </a:pPr>
            <a:r>
              <a:t>✓ Availability: 24/7/365 continuous autonomous execution</a:t>
            </a:r>
          </a:p>
          <a:p>
            <a:pPr>
              <a:spcBef>
                <a:spcPts val="1000"/>
              </a:spcBef>
              <a:defRPr sz="1100">
                <a:solidFill>
                  <a:srgbClr val="FAF9F0"/>
                </a:solidFill>
                <a:latin typeface="Arial"/>
              </a:defRPr>
            </a:pPr>
            <a:r>
              <a:t>✓ Reliability: Zero churn, permanent institutional company memory</a:t>
            </a:r>
          </a:p>
          <a:p>
            <a:pPr>
              <a:spcBef>
                <a:spcPts val="1000"/>
              </a:spcBef>
              <a:defRPr sz="1100">
                <a:solidFill>
                  <a:srgbClr val="FAF9F0"/>
                </a:solidFill>
                <a:latin typeface="Arial"/>
              </a:defRPr>
            </a:pPr>
            <a:r>
              <a:t>✓ Throughput: Unlimited parallel customer inquiries and pipeline deals</a:t>
            </a:r>
          </a:p>
          <a:p>
            <a:pPr>
              <a:spcBef>
                <a:spcPts val="1000"/>
              </a:spcBef>
              <a:defRPr sz="1100">
                <a:solidFill>
                  <a:srgbClr val="FAF9F0"/>
                </a:solidFill>
                <a:latin typeface="Arial"/>
              </a:defRPr>
            </a:pPr>
            <a:r>
              <a:t>✓ Architecture: 62 MCP enterprise tool bridges + Temporal state engine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320040"/>
          </a:xfrm>
          <a:prstGeom prst="rect">
            <a:avLst/>
          </a:prstGeom>
          <a:noFill/>
        </p:spPr>
        <p:txBody>
          <a:bodyPr wrap="square" lIns="0" tIns="0" rIns="0" bIns="0">
            <a:spAutoFit/>
          </a:bodyPr>
          <a:lstStyle/>
          <a:p>
            <a:pPr>
              <a:defRPr sz="1050" b="1">
                <a:solidFill>
                  <a:srgbClr val="D9A53D"/>
                </a:solidFill>
                <a:latin typeface="Arial"/>
              </a:defRPr>
            </a:pPr>
            <a:r>
              <a:t>THE PRODUCT FLEET</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500" b="1">
                <a:solidFill>
                  <a:srgbClr val="1E2B27"/>
                </a:solidFill>
                <a:latin typeface="Georgia"/>
              </a:defRPr>
            </a:pPr>
            <a:r>
              <a:t>3 Specialized Personas, One Shared Company Brain</a:t>
            </a:r>
          </a:p>
        </p:txBody>
      </p:sp>
      <p:sp>
        <p:nvSpPr>
          <p:cNvPr id="5" name="TextBox 4"/>
          <p:cNvSpPr txBox="1"/>
          <p:nvPr/>
        </p:nvSpPr>
        <p:spPr>
          <a:xfrm>
            <a:off x="731520" y="1280160"/>
            <a:ext cx="10698480" cy="411480"/>
          </a:xfrm>
          <a:prstGeom prst="rect">
            <a:avLst/>
          </a:prstGeom>
          <a:noFill/>
        </p:spPr>
        <p:txBody>
          <a:bodyPr wrap="square" lIns="0" tIns="0" rIns="0" bIns="0">
            <a:spAutoFit/>
          </a:bodyPr>
          <a:lstStyle/>
          <a:p>
            <a:pPr>
              <a:defRPr sz="1250">
                <a:solidFill>
                  <a:srgbClr val="64748B"/>
                </a:solidFill>
                <a:latin typeface="Arial"/>
              </a:defRPr>
            </a:pPr>
            <a:r>
              <a:t>Every employee operates on the same PostgreSQL pgvector RLS Company Brain for shared context and security.</a:t>
            </a:r>
          </a:p>
        </p:txBody>
      </p:sp>
      <p:sp>
        <p:nvSpPr>
          <p:cNvPr id="6" name="Rounded Rectangle 5"/>
          <p:cNvSpPr/>
          <p:nvPr/>
        </p:nvSpPr>
        <p:spPr>
          <a:xfrm>
            <a:off x="731520" y="1828800"/>
            <a:ext cx="3383280" cy="329184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3017520" cy="365760"/>
          </a:xfrm>
          <a:prstGeom prst="roundRect">
            <a:avLst/>
          </a:prstGeom>
          <a:solidFill>
            <a:srgbClr val="F5F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E2B27"/>
                </a:solidFill>
              </a:defRPr>
            </a:pPr>
            <a:r>
              <a:t>PIPELINE &amp; INBOUND VELOCITY</a:t>
            </a:r>
          </a:p>
        </p:txBody>
      </p:sp>
      <p:sp>
        <p:nvSpPr>
          <p:cNvPr id="8" name="TextBox 7"/>
          <p:cNvSpPr txBox="1"/>
          <p:nvPr/>
        </p:nvSpPr>
        <p:spPr>
          <a:xfrm>
            <a:off x="960120" y="2423160"/>
            <a:ext cx="2926080" cy="2560320"/>
          </a:xfrm>
          <a:prstGeom prst="rect">
            <a:avLst/>
          </a:prstGeom>
          <a:noFill/>
        </p:spPr>
        <p:txBody>
          <a:bodyPr wrap="square">
            <a:spAutoFit/>
          </a:bodyPr>
          <a:lstStyle/>
          <a:p>
            <a:pPr>
              <a:defRPr sz="1700" b="1">
                <a:solidFill>
                  <a:srgbClr val="1E2B27"/>
                </a:solidFill>
                <a:latin typeface="Georgia"/>
              </a:defRPr>
            </a:pPr>
            <a:r>
              <a:t>Growth Employee</a:t>
            </a:r>
          </a:p>
          <a:p>
            <a:pPr>
              <a:spcBef>
                <a:spcPts val="600"/>
              </a:spcBef>
              <a:defRPr sz="1050">
                <a:solidFill>
                  <a:srgbClr val="334155"/>
                </a:solidFill>
                <a:latin typeface="Arial"/>
              </a:defRPr>
            </a:pPr>
            <a:r>
              <a:t>• Apollo &amp; Hunter lead enrichment</a:t>
            </a:r>
          </a:p>
          <a:p>
            <a:pPr>
              <a:spcBef>
                <a:spcPts val="600"/>
              </a:spcBef>
              <a:defRPr sz="1050">
                <a:solidFill>
                  <a:srgbClr val="334155"/>
                </a:solidFill>
                <a:latin typeface="Arial"/>
              </a:defRPr>
            </a:pPr>
            <a:r>
              <a:t>• Real-time buyer intent detection</a:t>
            </a:r>
          </a:p>
          <a:p>
            <a:pPr>
              <a:spcBef>
                <a:spcPts val="600"/>
              </a:spcBef>
              <a:defRPr sz="1050">
                <a:solidFill>
                  <a:srgbClr val="334155"/>
                </a:solidFill>
                <a:latin typeface="Arial"/>
              </a:defRPr>
            </a:pPr>
            <a:r>
              <a:t>• Stale pipeline deal revival</a:t>
            </a:r>
          </a:p>
          <a:p>
            <a:pPr>
              <a:spcBef>
                <a:spcPts val="600"/>
              </a:spcBef>
              <a:defRPr sz="1050">
                <a:solidFill>
                  <a:srgbClr val="334155"/>
                </a:solidFill>
                <a:latin typeface="Arial"/>
              </a:defRPr>
            </a:pPr>
            <a:r>
              <a:t>• Auto-qualify &amp; calendar booking</a:t>
            </a:r>
          </a:p>
          <a:p>
            <a:pPr>
              <a:spcBef>
                <a:spcPts val="600"/>
              </a:spcBef>
              <a:defRPr sz="1050">
                <a:solidFill>
                  <a:srgbClr val="334155"/>
                </a:solidFill>
                <a:latin typeface="Arial"/>
              </a:defRPr>
            </a:pPr>
            <a:r>
              <a:t>• Key Metric: Lead contacted in &lt;45s</a:t>
            </a:r>
          </a:p>
        </p:txBody>
      </p:sp>
      <p:sp>
        <p:nvSpPr>
          <p:cNvPr id="9" name="Rounded Rectangle 8"/>
          <p:cNvSpPr/>
          <p:nvPr/>
        </p:nvSpPr>
        <p:spPr>
          <a:xfrm>
            <a:off x="4343400" y="1828800"/>
            <a:ext cx="3383280" cy="329184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26280" y="1965960"/>
            <a:ext cx="3017520" cy="365760"/>
          </a:xfrm>
          <a:prstGeom prst="roundRect">
            <a:avLst/>
          </a:prstGeom>
          <a:solidFill>
            <a:srgbClr val="F5F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E2B27"/>
                </a:solidFill>
              </a:defRPr>
            </a:pPr>
            <a:r>
              <a:t>OMNICHANNEL 24/7 RESOLUTION</a:t>
            </a:r>
          </a:p>
        </p:txBody>
      </p:sp>
      <p:sp>
        <p:nvSpPr>
          <p:cNvPr id="11" name="TextBox 10"/>
          <p:cNvSpPr txBox="1"/>
          <p:nvPr/>
        </p:nvSpPr>
        <p:spPr>
          <a:xfrm>
            <a:off x="4572000" y="2423160"/>
            <a:ext cx="2926080" cy="2560320"/>
          </a:xfrm>
          <a:prstGeom prst="rect">
            <a:avLst/>
          </a:prstGeom>
          <a:noFill/>
        </p:spPr>
        <p:txBody>
          <a:bodyPr wrap="square">
            <a:spAutoFit/>
          </a:bodyPr>
          <a:lstStyle/>
          <a:p>
            <a:pPr>
              <a:defRPr sz="1700" b="1">
                <a:solidFill>
                  <a:srgbClr val="1E2B27"/>
                </a:solidFill>
                <a:latin typeface="Georgia"/>
              </a:defRPr>
            </a:pPr>
            <a:r>
              <a:t>Customer Employee</a:t>
            </a:r>
          </a:p>
          <a:p>
            <a:pPr>
              <a:spcBef>
                <a:spcPts val="600"/>
              </a:spcBef>
              <a:defRPr sz="1050">
                <a:solidFill>
                  <a:srgbClr val="334155"/>
                </a:solidFill>
                <a:latin typeface="Arial"/>
              </a:defRPr>
            </a:pPr>
            <a:r>
              <a:t>• Native WhatsApp Cloud API &amp; Chatwoot</a:t>
            </a:r>
          </a:p>
          <a:p>
            <a:pPr>
              <a:spcBef>
                <a:spcPts val="600"/>
              </a:spcBef>
              <a:defRPr sz="1050">
                <a:solidFill>
                  <a:srgbClr val="334155"/>
                </a:solidFill>
                <a:latin typeface="Arial"/>
              </a:defRPr>
            </a:pPr>
            <a:r>
              <a:t>• Stripe order &amp; invoice lookups</a:t>
            </a:r>
          </a:p>
          <a:p>
            <a:pPr>
              <a:spcBef>
                <a:spcPts val="600"/>
              </a:spcBef>
              <a:defRPr sz="1050">
                <a:solidFill>
                  <a:srgbClr val="334155"/>
                </a:solidFill>
                <a:latin typeface="Arial"/>
              </a:defRPr>
            </a:pPr>
            <a:r>
              <a:t>• Multi-channel FAQ &amp; issue resolution</a:t>
            </a:r>
          </a:p>
          <a:p>
            <a:pPr>
              <a:spcBef>
                <a:spcPts val="600"/>
              </a:spcBef>
              <a:defRPr sz="1050">
                <a:solidFill>
                  <a:srgbClr val="334155"/>
                </a:solidFill>
                <a:latin typeface="Arial"/>
              </a:defRPr>
            </a:pPr>
            <a:r>
              <a:t>• Tier-3 escalation to human staff</a:t>
            </a:r>
          </a:p>
          <a:p>
            <a:pPr>
              <a:spcBef>
                <a:spcPts val="600"/>
              </a:spcBef>
              <a:defRPr sz="1050">
                <a:solidFill>
                  <a:srgbClr val="334155"/>
                </a:solidFill>
                <a:latin typeface="Arial"/>
              </a:defRPr>
            </a:pPr>
            <a:r>
              <a:t>• Key Metric: 76.4% Autonomous resolution</a:t>
            </a:r>
          </a:p>
        </p:txBody>
      </p:sp>
      <p:sp>
        <p:nvSpPr>
          <p:cNvPr id="12" name="Rounded Rectangle 11"/>
          <p:cNvSpPr/>
          <p:nvPr/>
        </p:nvSpPr>
        <p:spPr>
          <a:xfrm>
            <a:off x="7955280" y="1828800"/>
            <a:ext cx="3383280" cy="329184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60" y="1965960"/>
            <a:ext cx="3017520" cy="365760"/>
          </a:xfrm>
          <a:prstGeom prst="roundRect">
            <a:avLst/>
          </a:prstGeom>
          <a:solidFill>
            <a:srgbClr val="F5F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E2B27"/>
                </a:solidFill>
              </a:defRPr>
            </a:pPr>
            <a:r>
              <a:t>EXECUTIVE BRIEFING &amp; HYGIENE</a:t>
            </a:r>
          </a:p>
        </p:txBody>
      </p:sp>
      <p:sp>
        <p:nvSpPr>
          <p:cNvPr id="14" name="TextBox 13"/>
          <p:cNvSpPr txBox="1"/>
          <p:nvPr/>
        </p:nvSpPr>
        <p:spPr>
          <a:xfrm>
            <a:off x="8183880" y="2423160"/>
            <a:ext cx="2926080" cy="2560320"/>
          </a:xfrm>
          <a:prstGeom prst="rect">
            <a:avLst/>
          </a:prstGeom>
          <a:noFill/>
        </p:spPr>
        <p:txBody>
          <a:bodyPr wrap="square">
            <a:spAutoFit/>
          </a:bodyPr>
          <a:lstStyle/>
          <a:p>
            <a:pPr>
              <a:defRPr sz="1700" b="1">
                <a:solidFill>
                  <a:srgbClr val="1E2B27"/>
                </a:solidFill>
                <a:latin typeface="Georgia"/>
              </a:defRPr>
            </a:pPr>
            <a:r>
              <a:t>Operations Employee</a:t>
            </a:r>
          </a:p>
          <a:p>
            <a:pPr>
              <a:spcBef>
                <a:spcPts val="600"/>
              </a:spcBef>
              <a:defRPr sz="1050">
                <a:solidFill>
                  <a:srgbClr val="334155"/>
                </a:solidFill>
                <a:latin typeface="Arial"/>
              </a:defRPr>
            </a:pPr>
            <a:r>
              <a:t>• Daily 8:00 AM CEO Executive Briefing</a:t>
            </a:r>
          </a:p>
          <a:p>
            <a:pPr>
              <a:spcBef>
                <a:spcPts val="600"/>
              </a:spcBef>
              <a:defRPr sz="1050">
                <a:solidFill>
                  <a:srgbClr val="334155"/>
                </a:solidFill>
                <a:latin typeface="Arial"/>
              </a:defRPr>
            </a:pPr>
            <a:r>
              <a:t>• Stripe, Xero &amp; Bank reconciliation</a:t>
            </a:r>
          </a:p>
          <a:p>
            <a:pPr>
              <a:spcBef>
                <a:spcPts val="600"/>
              </a:spcBef>
              <a:defRPr sz="1050">
                <a:solidFill>
                  <a:srgbClr val="334155"/>
                </a:solidFill>
                <a:latin typeface="Arial"/>
              </a:defRPr>
            </a:pPr>
            <a:r>
              <a:t>• CRM hygiene &amp; deal slippage audits</a:t>
            </a:r>
          </a:p>
          <a:p>
            <a:pPr>
              <a:spcBef>
                <a:spcPts val="600"/>
              </a:spcBef>
              <a:defRPr sz="1050">
                <a:solidFill>
                  <a:srgbClr val="334155"/>
                </a:solidFill>
                <a:latin typeface="Arial"/>
              </a:defRPr>
            </a:pPr>
            <a:r>
              <a:t>• Cross-system anomaly detection</a:t>
            </a:r>
          </a:p>
          <a:p>
            <a:pPr>
              <a:spcBef>
                <a:spcPts val="600"/>
              </a:spcBef>
              <a:defRPr sz="1050">
                <a:solidFill>
                  <a:srgbClr val="334155"/>
                </a:solidFill>
                <a:latin typeface="Arial"/>
              </a:defRPr>
            </a:pPr>
            <a:r>
              <a:t>• Key Metric: Saves 18 hours/week for execs</a:t>
            </a:r>
          </a:p>
        </p:txBody>
      </p:sp>
      <p:sp>
        <p:nvSpPr>
          <p:cNvPr id="15" name="Rounded Rectangle 14"/>
          <p:cNvSpPr/>
          <p:nvPr/>
        </p:nvSpPr>
        <p:spPr>
          <a:xfrm>
            <a:off x="731520" y="5303520"/>
            <a:ext cx="10698480" cy="1005840"/>
          </a:xfrm>
          <a:prstGeom prst="roundRect">
            <a:avLst/>
          </a:prstGeom>
          <a:solidFill>
            <a:srgbClr val="1E2B27"/>
          </a:solidFill>
          <a:ln w="15240">
            <a:solidFill>
              <a:srgbClr val="F0C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394960"/>
            <a:ext cx="10149840" cy="822960"/>
          </a:xfrm>
          <a:prstGeom prst="rect">
            <a:avLst/>
          </a:prstGeom>
          <a:noFill/>
        </p:spPr>
        <p:txBody>
          <a:bodyPr wrap="square">
            <a:spAutoFit/>
          </a:bodyPr>
          <a:lstStyle/>
          <a:p>
            <a:pPr>
              <a:defRPr sz="1100" b="1">
                <a:solidFill>
                  <a:srgbClr val="F0C05A"/>
                </a:solidFill>
                <a:latin typeface="Georgia"/>
              </a:defRPr>
            </a:pPr>
            <a:r>
              <a:t>THE SHARED COMPANY BRAIN (POSTGRESQL PGVECTOR + ROW-LEVEL SECURITY)</a:t>
            </a:r>
          </a:p>
          <a:p>
            <a:pPr>
              <a:spcBef>
                <a:spcPts val="300"/>
              </a:spcBef>
              <a:defRPr sz="1000">
                <a:solidFill>
                  <a:srgbClr val="FAF9F0"/>
                </a:solidFill>
                <a:latin typeface="Arial"/>
              </a:defRPr>
            </a:pPr>
            <a:r>
              <a:t>All 3 personas share one brain: Customer Employee knows if an inquiry is an active sales deal; Operations Employee flags billing disputes before churn. Strict PostgreSQL RLS isolates tenant data at the database kernel.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320040"/>
          </a:xfrm>
          <a:prstGeom prst="rect">
            <a:avLst/>
          </a:prstGeom>
          <a:noFill/>
        </p:spPr>
        <p:txBody>
          <a:bodyPr wrap="square" lIns="0" tIns="0" rIns="0" bIns="0">
            <a:spAutoFit/>
          </a:bodyPr>
          <a:lstStyle/>
          <a:p>
            <a:pPr>
              <a:defRPr sz="1050" b="1">
                <a:solidFill>
                  <a:srgbClr val="D9A53D"/>
                </a:solidFill>
                <a:latin typeface="Arial"/>
              </a:defRPr>
            </a:pPr>
            <a:r>
              <a:t>THE LIVE PRODUCT EXPERIENCE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500" b="1">
                <a:solidFill>
                  <a:srgbClr val="1E2B27"/>
                </a:solidFill>
                <a:latin typeface="Georgia"/>
              </a:defRPr>
            </a:pPr>
            <a:r>
              <a:t>The 'Magic Moment': End-to-End Execution in 8 Seconds</a:t>
            </a:r>
          </a:p>
        </p:txBody>
      </p:sp>
      <p:sp>
        <p:nvSpPr>
          <p:cNvPr id="5" name="TextBox 4"/>
          <p:cNvSpPr txBox="1"/>
          <p:nvPr/>
        </p:nvSpPr>
        <p:spPr>
          <a:xfrm>
            <a:off x="731520" y="1280160"/>
            <a:ext cx="10698480" cy="411480"/>
          </a:xfrm>
          <a:prstGeom prst="rect">
            <a:avLst/>
          </a:prstGeom>
          <a:noFill/>
        </p:spPr>
        <p:txBody>
          <a:bodyPr wrap="square" lIns="0" tIns="0" rIns="0" bIns="0">
            <a:spAutoFit/>
          </a:bodyPr>
          <a:lstStyle/>
          <a:p>
            <a:pPr>
              <a:defRPr sz="1250">
                <a:solidFill>
                  <a:srgbClr val="64748B"/>
                </a:solidFill>
                <a:latin typeface="Arial"/>
              </a:defRPr>
            </a:pPr>
            <a:r>
              <a:t>A real test scenario running in DareXAI production right now.</a:t>
            </a:r>
          </a:p>
        </p:txBody>
      </p:sp>
      <p:sp>
        <p:nvSpPr>
          <p:cNvPr id="6" name="Rounded Rectangle 5"/>
          <p:cNvSpPr/>
          <p:nvPr/>
        </p:nvSpPr>
        <p:spPr>
          <a:xfrm>
            <a:off x="731520" y="1828800"/>
            <a:ext cx="10698480" cy="77724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93392"/>
            <a:ext cx="1188720" cy="438912"/>
          </a:xfrm>
          <a:prstGeom prst="roundRect">
            <a:avLst/>
          </a:prstGeom>
          <a:solidFill>
            <a:srgbClr val="ECE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2B27"/>
                </a:solidFill>
              </a:defRPr>
            </a:pPr>
            <a:r>
              <a:t>00:00:00</a:t>
            </a:r>
          </a:p>
        </p:txBody>
      </p:sp>
      <p:sp>
        <p:nvSpPr>
          <p:cNvPr id="8" name="TextBox 7"/>
          <p:cNvSpPr txBox="1"/>
          <p:nvPr/>
        </p:nvSpPr>
        <p:spPr>
          <a:xfrm>
            <a:off x="2286000" y="1938528"/>
            <a:ext cx="8961120" cy="594360"/>
          </a:xfrm>
          <a:prstGeom prst="rect">
            <a:avLst/>
          </a:prstGeom>
          <a:noFill/>
        </p:spPr>
        <p:txBody>
          <a:bodyPr wrap="square">
            <a:spAutoFit/>
          </a:bodyPr>
          <a:lstStyle/>
          <a:p>
            <a:pPr>
              <a:defRPr sz="1150" b="1">
                <a:solidFill>
                  <a:srgbClr val="1E2B27"/>
                </a:solidFill>
                <a:latin typeface="Georgia"/>
              </a:defRPr>
            </a:pPr>
            <a:r>
              <a:t>INBOUND WHATSAPP PING</a:t>
            </a:r>
          </a:p>
          <a:p>
            <a:pPr>
              <a:defRPr sz="1000">
                <a:solidFill>
                  <a:srgbClr val="334155"/>
                </a:solidFill>
                <a:latin typeface="Arial"/>
              </a:defRPr>
            </a:pPr>
            <a:r>
              <a:t>Customer sends: 'Hey, upgrade us to the Annual Team Plan for 15 seats. Apply discount code SCALE15 and send invoice.'</a:t>
            </a:r>
          </a:p>
        </p:txBody>
      </p:sp>
      <p:sp>
        <p:nvSpPr>
          <p:cNvPr id="9" name="Rounded Rectangle 8"/>
          <p:cNvSpPr/>
          <p:nvPr/>
        </p:nvSpPr>
        <p:spPr>
          <a:xfrm>
            <a:off x="731520" y="2706624"/>
            <a:ext cx="10698480" cy="77724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2871216"/>
            <a:ext cx="1188720" cy="438912"/>
          </a:xfrm>
          <a:prstGeom prst="roundRect">
            <a:avLst/>
          </a:prstGeom>
          <a:solidFill>
            <a:srgbClr val="ECE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2B27"/>
                </a:solidFill>
              </a:defRPr>
            </a:pPr>
            <a:r>
              <a:t>00:00:02</a:t>
            </a:r>
          </a:p>
        </p:txBody>
      </p:sp>
      <p:sp>
        <p:nvSpPr>
          <p:cNvPr id="11" name="TextBox 10"/>
          <p:cNvSpPr txBox="1"/>
          <p:nvPr/>
        </p:nvSpPr>
        <p:spPr>
          <a:xfrm>
            <a:off x="2286000" y="2816352"/>
            <a:ext cx="8961120" cy="594360"/>
          </a:xfrm>
          <a:prstGeom prst="rect">
            <a:avLst/>
          </a:prstGeom>
          <a:noFill/>
        </p:spPr>
        <p:txBody>
          <a:bodyPr wrap="square">
            <a:spAutoFit/>
          </a:bodyPr>
          <a:lstStyle/>
          <a:p>
            <a:pPr>
              <a:defRPr sz="1150" b="1">
                <a:solidFill>
                  <a:srgbClr val="334155"/>
                </a:solidFill>
                <a:latin typeface="Georgia"/>
              </a:defRPr>
            </a:pPr>
            <a:r>
              <a:t>INTENT RECOGNIZED &amp; PLAN GENERATED</a:t>
            </a:r>
          </a:p>
          <a:p>
            <a:pPr>
              <a:defRPr sz="1000">
                <a:solidFill>
                  <a:srgbClr val="334155"/>
                </a:solidFill>
                <a:latin typeface="Arial"/>
              </a:defRPr>
            </a:pPr>
            <a:r>
              <a:t>Scoping tenant context via PostgreSQL RLS. Verifies promo 'SCALE15'. Detects financial write (Tier-3 High Impact).</a:t>
            </a:r>
          </a:p>
        </p:txBody>
      </p:sp>
      <p:sp>
        <p:nvSpPr>
          <p:cNvPr id="12" name="Rounded Rectangle 11"/>
          <p:cNvSpPr/>
          <p:nvPr/>
        </p:nvSpPr>
        <p:spPr>
          <a:xfrm>
            <a:off x="731520" y="3584448"/>
            <a:ext cx="10698480" cy="77724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4400" y="3749040"/>
            <a:ext cx="1188720" cy="438912"/>
          </a:xfrm>
          <a:prstGeom prst="roundRect">
            <a:avLst/>
          </a:prstGeom>
          <a:solidFill>
            <a:srgbClr val="ECE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2B27"/>
                </a:solidFill>
              </a:defRPr>
            </a:pPr>
            <a:r>
              <a:t>00:00:04</a:t>
            </a:r>
          </a:p>
        </p:txBody>
      </p:sp>
      <p:sp>
        <p:nvSpPr>
          <p:cNvPr id="14" name="TextBox 13"/>
          <p:cNvSpPr txBox="1"/>
          <p:nvPr/>
        </p:nvSpPr>
        <p:spPr>
          <a:xfrm>
            <a:off x="2286000" y="3694176"/>
            <a:ext cx="8961120" cy="594360"/>
          </a:xfrm>
          <a:prstGeom prst="rect">
            <a:avLst/>
          </a:prstGeom>
          <a:noFill/>
        </p:spPr>
        <p:txBody>
          <a:bodyPr wrap="square">
            <a:spAutoFit/>
          </a:bodyPr>
          <a:lstStyle/>
          <a:p>
            <a:pPr>
              <a:defRPr sz="1150" b="1">
                <a:solidFill>
                  <a:srgbClr val="D9A53D"/>
                </a:solidFill>
                <a:latin typeface="Georgia"/>
              </a:defRPr>
            </a:pPr>
            <a:r>
              <a:t>HUMAN-IN-THE-LOOP DECISION BRIEF</a:t>
            </a:r>
          </a:p>
          <a:p>
            <a:pPr>
              <a:defRPr sz="1000">
                <a:solidFill>
                  <a:srgbClr val="334155"/>
                </a:solidFill>
                <a:latin typeface="Arial"/>
              </a:defRPr>
            </a:pPr>
            <a:r>
              <a:t>Slack alert to CFO: 'Customer ACME Corp requests $3,600 upgrade with 15% discount ($3,060 net). Click Approve.'</a:t>
            </a:r>
          </a:p>
        </p:txBody>
      </p:sp>
      <p:sp>
        <p:nvSpPr>
          <p:cNvPr id="15" name="Rounded Rectangle 14"/>
          <p:cNvSpPr/>
          <p:nvPr/>
        </p:nvSpPr>
        <p:spPr>
          <a:xfrm>
            <a:off x="731520" y="4462272"/>
            <a:ext cx="10698480" cy="777240"/>
          </a:xfrm>
          <a:prstGeom prst="roundRect">
            <a:avLst/>
          </a:prstGeom>
          <a:solidFill>
            <a:srgbClr val="F5F2D8"/>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4400" y="4626864"/>
            <a:ext cx="1188720" cy="438912"/>
          </a:xfrm>
          <a:prstGeom prst="roundRect">
            <a:avLst/>
          </a:prstGeom>
          <a:solidFill>
            <a:srgbClr val="1E2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0C05A"/>
                </a:solidFill>
              </a:defRPr>
            </a:pPr>
            <a:r>
              <a:t>00:00:07</a:t>
            </a:r>
          </a:p>
        </p:txBody>
      </p:sp>
      <p:sp>
        <p:nvSpPr>
          <p:cNvPr id="17" name="TextBox 16"/>
          <p:cNvSpPr txBox="1"/>
          <p:nvPr/>
        </p:nvSpPr>
        <p:spPr>
          <a:xfrm>
            <a:off x="2286000" y="4572000"/>
            <a:ext cx="8961120" cy="594360"/>
          </a:xfrm>
          <a:prstGeom prst="rect">
            <a:avLst/>
          </a:prstGeom>
          <a:noFill/>
        </p:spPr>
        <p:txBody>
          <a:bodyPr wrap="square">
            <a:spAutoFit/>
          </a:bodyPr>
          <a:lstStyle/>
          <a:p>
            <a:pPr>
              <a:defRPr sz="1150" b="1">
                <a:solidFill>
                  <a:srgbClr val="1E2B27"/>
                </a:solidFill>
                <a:latin typeface="Georgia"/>
              </a:defRPr>
            </a:pPr>
            <a:r>
              <a:t>CFO CLICKS 'APPROVE' IN SLACK</a:t>
            </a:r>
          </a:p>
          <a:p>
            <a:pPr>
              <a:defRPr sz="1000">
                <a:solidFill>
                  <a:srgbClr val="334155"/>
                </a:solidFill>
                <a:latin typeface="Arial"/>
              </a:defRPr>
            </a:pPr>
            <a:r>
              <a:t>1-Click Safe Delegation. Human maintains 100% governance over sensitive financial transactions.</a:t>
            </a:r>
          </a:p>
        </p:txBody>
      </p:sp>
      <p:sp>
        <p:nvSpPr>
          <p:cNvPr id="18" name="Rounded Rectangle 17"/>
          <p:cNvSpPr/>
          <p:nvPr/>
        </p:nvSpPr>
        <p:spPr>
          <a:xfrm>
            <a:off x="731520" y="5340096"/>
            <a:ext cx="10698480" cy="77724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4400" y="5504688"/>
            <a:ext cx="1188720" cy="438912"/>
          </a:xfrm>
          <a:prstGeom prst="roundRect">
            <a:avLst/>
          </a:prstGeom>
          <a:solidFill>
            <a:srgbClr val="ECE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2B27"/>
                </a:solidFill>
              </a:defRPr>
            </a:pPr>
            <a:r>
              <a:t>00:00:08</a:t>
            </a:r>
          </a:p>
        </p:txBody>
      </p:sp>
      <p:sp>
        <p:nvSpPr>
          <p:cNvPr id="20" name="TextBox 19"/>
          <p:cNvSpPr txBox="1"/>
          <p:nvPr/>
        </p:nvSpPr>
        <p:spPr>
          <a:xfrm>
            <a:off x="2286000" y="5449824"/>
            <a:ext cx="8961120" cy="594360"/>
          </a:xfrm>
          <a:prstGeom prst="rect">
            <a:avLst/>
          </a:prstGeom>
          <a:noFill/>
        </p:spPr>
        <p:txBody>
          <a:bodyPr wrap="square">
            <a:spAutoFit/>
          </a:bodyPr>
          <a:lstStyle/>
          <a:p>
            <a:pPr>
              <a:defRPr sz="1150" b="1">
                <a:solidFill>
                  <a:srgbClr val="2E423C"/>
                </a:solidFill>
                <a:latin typeface="Georgia"/>
              </a:defRPr>
            </a:pPr>
            <a:r>
              <a:t>TEMPORAL DURABLE SYNCHRONIZATION COMPLETE</a:t>
            </a:r>
          </a:p>
          <a:p>
            <a:pPr>
              <a:defRPr sz="1000">
                <a:solidFill>
                  <a:srgbClr val="334155"/>
                </a:solidFill>
                <a:latin typeface="Arial"/>
              </a:defRPr>
            </a:pPr>
            <a:r>
              <a:t>✓ Stripe invoice created ($3,060)  |  ✓ HubSpot deal moved to Closed-Won  |  ✓ WhatsApp reply sent with live payment link.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320040"/>
          </a:xfrm>
          <a:prstGeom prst="rect">
            <a:avLst/>
          </a:prstGeom>
          <a:noFill/>
        </p:spPr>
        <p:txBody>
          <a:bodyPr wrap="square" lIns="0" tIns="0" rIns="0" bIns="0">
            <a:spAutoFit/>
          </a:bodyPr>
          <a:lstStyle/>
          <a:p>
            <a:pPr>
              <a:defRPr sz="1050" b="1">
                <a:solidFill>
                  <a:srgbClr val="D9A53D"/>
                </a:solidFill>
                <a:latin typeface="Arial"/>
              </a:defRPr>
            </a:pPr>
            <a:r>
              <a:t>ARCHITECTURAL DEFENSIBILITY</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500" b="1">
                <a:solidFill>
                  <a:srgbClr val="1E2B27"/>
                </a:solidFill>
                <a:latin typeface="Georgia"/>
              </a:defRPr>
            </a:pPr>
            <a:r>
              <a:t>Built Like Stripe, Not a Prompt Wrapper</a:t>
            </a:r>
          </a:p>
        </p:txBody>
      </p:sp>
      <p:sp>
        <p:nvSpPr>
          <p:cNvPr id="5" name="TextBox 4"/>
          <p:cNvSpPr txBox="1"/>
          <p:nvPr/>
        </p:nvSpPr>
        <p:spPr>
          <a:xfrm>
            <a:off x="731520" y="1280160"/>
            <a:ext cx="10698480" cy="411480"/>
          </a:xfrm>
          <a:prstGeom prst="rect">
            <a:avLst/>
          </a:prstGeom>
          <a:noFill/>
        </p:spPr>
        <p:txBody>
          <a:bodyPr wrap="square" lIns="0" tIns="0" rIns="0" bIns="0">
            <a:spAutoFit/>
          </a:bodyPr>
          <a:lstStyle/>
          <a:p>
            <a:pPr>
              <a:defRPr sz="1250">
                <a:solidFill>
                  <a:srgbClr val="64748B"/>
                </a:solidFill>
                <a:latin typeface="Arial"/>
              </a:defRPr>
            </a:pPr>
            <a:r>
              <a:t>The 4-Layer resilient architecture that prevents crashes, state loss, and security breaches.</a:t>
            </a:r>
          </a:p>
        </p:txBody>
      </p:sp>
      <p:sp>
        <p:nvSpPr>
          <p:cNvPr id="6" name="Rounded Rectangle 5"/>
          <p:cNvSpPr/>
          <p:nvPr/>
        </p:nvSpPr>
        <p:spPr>
          <a:xfrm>
            <a:off x="731520" y="1828800"/>
            <a:ext cx="10698480" cy="100584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28800"/>
            <a:ext cx="109728" cy="1005840"/>
          </a:xfrm>
          <a:prstGeom prst="rect">
            <a:avLst/>
          </a:prstGeom>
          <a:solidFill>
            <a:srgbClr val="D9A5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38528"/>
            <a:ext cx="10149840" cy="822960"/>
          </a:xfrm>
          <a:prstGeom prst="rect">
            <a:avLst/>
          </a:prstGeom>
          <a:noFill/>
        </p:spPr>
        <p:txBody>
          <a:bodyPr wrap="square">
            <a:spAutoFit/>
          </a:bodyPr>
          <a:lstStyle/>
          <a:p>
            <a:pPr>
              <a:defRPr sz="1250" b="1">
                <a:solidFill>
                  <a:srgbClr val="1E2B27"/>
                </a:solidFill>
                <a:latin typeface="Georgia"/>
              </a:defRPr>
            </a:pPr>
            <a:r>
              <a:t>Layer 4: Omnichannel Ingress  |  WhatsApp Cloud API • Chatwoot • Gmail • Slack • Next.js</a:t>
            </a:r>
          </a:p>
          <a:p>
            <a:pPr>
              <a:spcBef>
                <a:spcPts val="300"/>
              </a:spcBef>
              <a:defRPr sz="1050">
                <a:solidFill>
                  <a:srgbClr val="334155"/>
                </a:solidFill>
                <a:latin typeface="Arial"/>
              </a:defRPr>
            </a:pPr>
            <a:r>
              <a:t>Sub-500ms webhook ingress with instant 200 ACK and asynchronous Temporal handoff.</a:t>
            </a:r>
          </a:p>
        </p:txBody>
      </p:sp>
      <p:sp>
        <p:nvSpPr>
          <p:cNvPr id="9" name="Rounded Rectangle 8"/>
          <p:cNvSpPr/>
          <p:nvPr/>
        </p:nvSpPr>
        <p:spPr>
          <a:xfrm>
            <a:off x="731520" y="2944368"/>
            <a:ext cx="10698480" cy="100584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944368"/>
            <a:ext cx="109728" cy="1005840"/>
          </a:xfrm>
          <a:prstGeom prst="rect">
            <a:avLst/>
          </a:prstGeom>
          <a:solidFill>
            <a:srgbClr val="1E2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054096"/>
            <a:ext cx="10149840" cy="822960"/>
          </a:xfrm>
          <a:prstGeom prst="rect">
            <a:avLst/>
          </a:prstGeom>
          <a:noFill/>
        </p:spPr>
        <p:txBody>
          <a:bodyPr wrap="square">
            <a:spAutoFit/>
          </a:bodyPr>
          <a:lstStyle/>
          <a:p>
            <a:pPr>
              <a:defRPr sz="1250" b="1">
                <a:solidFill>
                  <a:srgbClr val="1E2B27"/>
                </a:solidFill>
                <a:latin typeface="Georgia"/>
              </a:defRPr>
            </a:pPr>
            <a:r>
              <a:t>Layer 3: Durable State Machine  |  Temporal Cloud Core Orchestration Engine</a:t>
            </a:r>
          </a:p>
          <a:p>
            <a:pPr>
              <a:spcBef>
                <a:spcPts val="300"/>
              </a:spcBef>
              <a:defRPr sz="1050">
                <a:solidFill>
                  <a:srgbClr val="334155"/>
                </a:solidFill>
                <a:latin typeface="Arial"/>
              </a:defRPr>
            </a:pPr>
            <a:r>
              <a:t>Guaranteed execution through API timeouts, network partitions, and rate limits. Resumable workflows.</a:t>
            </a:r>
          </a:p>
        </p:txBody>
      </p:sp>
      <p:sp>
        <p:nvSpPr>
          <p:cNvPr id="12" name="Rounded Rectangle 11"/>
          <p:cNvSpPr/>
          <p:nvPr/>
        </p:nvSpPr>
        <p:spPr>
          <a:xfrm>
            <a:off x="731520" y="4059936"/>
            <a:ext cx="10698480" cy="100584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059936"/>
            <a:ext cx="109728" cy="1005840"/>
          </a:xfrm>
          <a:prstGeom prst="rect">
            <a:avLst/>
          </a:prstGeom>
          <a:solidFill>
            <a:srgbClr val="2E4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169664"/>
            <a:ext cx="10149840" cy="822960"/>
          </a:xfrm>
          <a:prstGeom prst="rect">
            <a:avLst/>
          </a:prstGeom>
          <a:noFill/>
        </p:spPr>
        <p:txBody>
          <a:bodyPr wrap="square">
            <a:spAutoFit/>
          </a:bodyPr>
          <a:lstStyle/>
          <a:p>
            <a:pPr>
              <a:defRPr sz="1250" b="1">
                <a:solidFill>
                  <a:srgbClr val="1E2B27"/>
                </a:solidFill>
                <a:latin typeface="Georgia"/>
              </a:defRPr>
            </a:pPr>
            <a:r>
              <a:t>Layer 2: Agent Reasoning &amp; 62 Tools  |  Atomic-Agent Engine v0.1.72 + MCP Server on :8790</a:t>
            </a:r>
          </a:p>
          <a:p>
            <a:pPr>
              <a:spcBef>
                <a:spcPts val="300"/>
              </a:spcBef>
              <a:defRPr sz="1050">
                <a:solidFill>
                  <a:srgbClr val="334155"/>
                </a:solidFill>
                <a:latin typeface="Arial"/>
              </a:defRPr>
            </a:pPr>
            <a:r>
              <a:t>Dynamic Model Cascading (LiteLLM routes 85% to fast SLMs) + 62 real production tool bridges.</a:t>
            </a:r>
          </a:p>
        </p:txBody>
      </p:sp>
      <p:sp>
        <p:nvSpPr>
          <p:cNvPr id="15" name="Rounded Rectangle 14"/>
          <p:cNvSpPr/>
          <p:nvPr/>
        </p:nvSpPr>
        <p:spPr>
          <a:xfrm>
            <a:off x="731520" y="5175504"/>
            <a:ext cx="10698480" cy="100584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175504"/>
            <a:ext cx="109728" cy="1005840"/>
          </a:xfrm>
          <a:prstGeom prst="rect">
            <a:avLst/>
          </a:prstGeom>
          <a:solidFill>
            <a:srgbClr val="1E2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5285232"/>
            <a:ext cx="10149840" cy="822960"/>
          </a:xfrm>
          <a:prstGeom prst="rect">
            <a:avLst/>
          </a:prstGeom>
          <a:noFill/>
        </p:spPr>
        <p:txBody>
          <a:bodyPr wrap="square">
            <a:spAutoFit/>
          </a:bodyPr>
          <a:lstStyle/>
          <a:p>
            <a:pPr>
              <a:defRPr sz="1250" b="1">
                <a:solidFill>
                  <a:srgbClr val="1E2B27"/>
                </a:solidFill>
                <a:latin typeface="Georgia"/>
              </a:defRPr>
            </a:pPr>
            <a:r>
              <a:t>Layer 1: Governance &amp; Security  |  PostgreSQL pgvector + Row-Level Security (RLS)</a:t>
            </a:r>
          </a:p>
          <a:p>
            <a:pPr>
              <a:spcBef>
                <a:spcPts val="300"/>
              </a:spcBef>
              <a:defRPr sz="1050">
                <a:solidFill>
                  <a:srgbClr val="334155"/>
                </a:solidFill>
                <a:latin typeface="Arial"/>
              </a:defRPr>
            </a:pPr>
            <a:r>
              <a:t>Hardware-isolated tenant boundaries with Autonomy Ladder (L1 to L4) enforcing human signoffs.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320040"/>
          </a:xfrm>
          <a:prstGeom prst="rect">
            <a:avLst/>
          </a:prstGeom>
          <a:noFill/>
        </p:spPr>
        <p:txBody>
          <a:bodyPr wrap="square" lIns="0" tIns="0" rIns="0" bIns="0">
            <a:spAutoFit/>
          </a:bodyPr>
          <a:lstStyle/>
          <a:p>
            <a:pPr>
              <a:defRPr sz="1050" b="1">
                <a:solidFill>
                  <a:srgbClr val="D9A53D"/>
                </a:solidFill>
                <a:latin typeface="Arial"/>
              </a:defRPr>
            </a:pPr>
            <a:r>
              <a:t>TOTAL ADDRESSABLE MARKET</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500" b="1">
                <a:solidFill>
                  <a:srgbClr val="1E2B27"/>
                </a:solidFill>
                <a:latin typeface="Georgia"/>
              </a:defRPr>
            </a:pPr>
            <a:r>
              <a:t>Capturing the $4.7 Trillion Global Payroll Budget</a:t>
            </a:r>
          </a:p>
        </p:txBody>
      </p:sp>
      <p:sp>
        <p:nvSpPr>
          <p:cNvPr id="5" name="TextBox 4"/>
          <p:cNvSpPr txBox="1"/>
          <p:nvPr/>
        </p:nvSpPr>
        <p:spPr>
          <a:xfrm>
            <a:off x="731520" y="1280160"/>
            <a:ext cx="10698480" cy="411480"/>
          </a:xfrm>
          <a:prstGeom prst="rect">
            <a:avLst/>
          </a:prstGeom>
          <a:noFill/>
        </p:spPr>
        <p:txBody>
          <a:bodyPr wrap="square" lIns="0" tIns="0" rIns="0" bIns="0">
            <a:spAutoFit/>
          </a:bodyPr>
          <a:lstStyle/>
          <a:p>
            <a:pPr>
              <a:defRPr sz="1250">
                <a:solidFill>
                  <a:srgbClr val="64748B"/>
                </a:solidFill>
                <a:latin typeface="Arial"/>
              </a:defRPr>
            </a:pPr>
            <a:r>
              <a:t>Transitioning corporate budgets from human payroll into high-margin digital workforce software.</a:t>
            </a:r>
          </a:p>
        </p:txBody>
      </p:sp>
      <p:sp>
        <p:nvSpPr>
          <p:cNvPr id="6" name="Rounded Rectangle 5"/>
          <p:cNvSpPr/>
          <p:nvPr/>
        </p:nvSpPr>
        <p:spPr>
          <a:xfrm>
            <a:off x="731520" y="1828800"/>
            <a:ext cx="3383280" cy="438912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03120"/>
            <a:ext cx="2926080" cy="3840480"/>
          </a:xfrm>
          <a:prstGeom prst="rect">
            <a:avLst/>
          </a:prstGeom>
          <a:noFill/>
        </p:spPr>
        <p:txBody>
          <a:bodyPr wrap="square">
            <a:spAutoFit/>
          </a:bodyPr>
          <a:lstStyle/>
          <a:p>
            <a:pPr>
              <a:defRPr sz="2800" b="1">
                <a:solidFill>
                  <a:srgbClr val="1E2B27"/>
                </a:solidFill>
                <a:latin typeface="Georgia"/>
              </a:defRPr>
            </a:pPr>
            <a:r>
              <a:t>$4.7 Trillion</a:t>
            </a:r>
          </a:p>
          <a:p>
            <a:pPr>
              <a:spcBef>
                <a:spcPts val="800"/>
              </a:spcBef>
              <a:spcAft>
                <a:spcPts val="1200"/>
              </a:spcAft>
              <a:defRPr sz="1150" b="1">
                <a:solidFill>
                  <a:srgbClr val="1E2B27"/>
                </a:solidFill>
                <a:latin typeface="Georgia"/>
              </a:defRPr>
            </a:pPr>
            <a:r>
              <a:t>TOTAL ADDRESSABLE MARKET (TAM)</a:t>
            </a:r>
          </a:p>
          <a:p>
            <a:pPr>
              <a:spcBef>
                <a:spcPts val="600"/>
              </a:spcBef>
              <a:defRPr sz="1100">
                <a:solidFill>
                  <a:srgbClr val="334155"/>
                </a:solidFill>
                <a:latin typeface="Arial"/>
              </a:defRPr>
            </a:pPr>
            <a:r>
              <a:t>Global compensation paid to junior operational workers: SDRs, Tier-1 support, CRM data coordinators, and back-office staff across 14M businesses.</a:t>
            </a:r>
          </a:p>
        </p:txBody>
      </p:sp>
      <p:sp>
        <p:nvSpPr>
          <p:cNvPr id="8" name="Rounded Rectangle 7"/>
          <p:cNvSpPr/>
          <p:nvPr/>
        </p:nvSpPr>
        <p:spPr>
          <a:xfrm>
            <a:off x="4343400" y="1828800"/>
            <a:ext cx="3383280" cy="438912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103120"/>
            <a:ext cx="2926080" cy="3840480"/>
          </a:xfrm>
          <a:prstGeom prst="rect">
            <a:avLst/>
          </a:prstGeom>
          <a:noFill/>
        </p:spPr>
        <p:txBody>
          <a:bodyPr wrap="square">
            <a:spAutoFit/>
          </a:bodyPr>
          <a:lstStyle/>
          <a:p>
            <a:pPr>
              <a:defRPr sz="2800" b="1">
                <a:solidFill>
                  <a:srgbClr val="D9A53D"/>
                </a:solidFill>
                <a:latin typeface="Georgia"/>
              </a:defRPr>
            </a:pPr>
            <a:r>
              <a:t>$68 Billion</a:t>
            </a:r>
          </a:p>
          <a:p>
            <a:pPr>
              <a:spcBef>
                <a:spcPts val="800"/>
              </a:spcBef>
              <a:spcAft>
                <a:spcPts val="1200"/>
              </a:spcAft>
              <a:defRPr sz="1150" b="1">
                <a:solidFill>
                  <a:srgbClr val="1E2B27"/>
                </a:solidFill>
                <a:latin typeface="Georgia"/>
              </a:defRPr>
            </a:pPr>
            <a:r>
              <a:t>SERVICEABLE ADDRESSABLE MARKET (SAM)</a:t>
            </a:r>
          </a:p>
          <a:p>
            <a:pPr>
              <a:spcBef>
                <a:spcPts val="600"/>
              </a:spcBef>
              <a:defRPr sz="1100">
                <a:solidFill>
                  <a:srgbClr val="334155"/>
                </a:solidFill>
                <a:latin typeface="Arial"/>
              </a:defRPr>
            </a:pPr>
            <a:r>
              <a:t>1.4 Million mid-market businesses (10–250 employees) running modern cloud stacks (HubSpot, WhatsApp, Stripe, Google Workspace).</a:t>
            </a:r>
          </a:p>
        </p:txBody>
      </p:sp>
      <p:sp>
        <p:nvSpPr>
          <p:cNvPr id="10" name="Rounded Rectangle 9"/>
          <p:cNvSpPr/>
          <p:nvPr/>
        </p:nvSpPr>
        <p:spPr>
          <a:xfrm>
            <a:off x="7955280" y="1828800"/>
            <a:ext cx="3383280" cy="438912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80" y="2103120"/>
            <a:ext cx="2926080" cy="3840480"/>
          </a:xfrm>
          <a:prstGeom prst="rect">
            <a:avLst/>
          </a:prstGeom>
          <a:noFill/>
        </p:spPr>
        <p:txBody>
          <a:bodyPr wrap="square">
            <a:spAutoFit/>
          </a:bodyPr>
          <a:lstStyle/>
          <a:p>
            <a:pPr>
              <a:defRPr sz="2800" b="1">
                <a:solidFill>
                  <a:srgbClr val="2E423C"/>
                </a:solidFill>
                <a:latin typeface="Georgia"/>
              </a:defRPr>
            </a:pPr>
            <a:r>
              <a:t>$840 Million</a:t>
            </a:r>
          </a:p>
          <a:p>
            <a:pPr>
              <a:spcBef>
                <a:spcPts val="800"/>
              </a:spcBef>
              <a:spcAft>
                <a:spcPts val="1200"/>
              </a:spcAft>
              <a:defRPr sz="1150" b="1">
                <a:solidFill>
                  <a:srgbClr val="1E2B27"/>
                </a:solidFill>
                <a:latin typeface="Georgia"/>
              </a:defRPr>
            </a:pPr>
            <a:r>
              <a:t>SERVICEABLE OBTAINABLE MARKET (SOM)</a:t>
            </a:r>
          </a:p>
          <a:p>
            <a:pPr>
              <a:spcBef>
                <a:spcPts val="600"/>
              </a:spcBef>
              <a:defRPr sz="1100">
                <a:solidFill>
                  <a:srgbClr val="334155"/>
                </a:solidFill>
                <a:latin typeface="Arial"/>
              </a:defRPr>
            </a:pPr>
            <a:r>
              <a:t>Tech-forward B2B SaaS, digital agencies, and high-velocity commerce companies in North America, UK, Europe, and India. Year 3 target: $25M ARR.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320040"/>
          </a:xfrm>
          <a:prstGeom prst="rect">
            <a:avLst/>
          </a:prstGeom>
          <a:noFill/>
        </p:spPr>
        <p:txBody>
          <a:bodyPr wrap="square" lIns="0" tIns="0" rIns="0" bIns="0">
            <a:spAutoFit/>
          </a:bodyPr>
          <a:lstStyle/>
          <a:p>
            <a:pPr>
              <a:defRPr sz="1050" b="1">
                <a:solidFill>
                  <a:srgbClr val="D9A53D"/>
                </a:solidFill>
                <a:latin typeface="Arial"/>
              </a:defRPr>
            </a:pPr>
            <a:r>
              <a:t>OPERATIONAL TELEMETRY</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500" b="1">
                <a:solidFill>
                  <a:srgbClr val="1E2B27"/>
                </a:solidFill>
                <a:latin typeface="Georgia"/>
              </a:defRPr>
            </a:pPr>
            <a:r>
              <a:t>Traction, Pilot Validation &amp; Production Metrics</a:t>
            </a:r>
          </a:p>
        </p:txBody>
      </p:sp>
      <p:sp>
        <p:nvSpPr>
          <p:cNvPr id="5" name="TextBox 4"/>
          <p:cNvSpPr txBox="1"/>
          <p:nvPr/>
        </p:nvSpPr>
        <p:spPr>
          <a:xfrm>
            <a:off x="731520" y="1280160"/>
            <a:ext cx="10698480" cy="411480"/>
          </a:xfrm>
          <a:prstGeom prst="rect">
            <a:avLst/>
          </a:prstGeom>
          <a:noFill/>
        </p:spPr>
        <p:txBody>
          <a:bodyPr wrap="square" lIns="0" tIns="0" rIns="0" bIns="0">
            <a:spAutoFit/>
          </a:bodyPr>
          <a:lstStyle/>
          <a:p>
            <a:pPr>
              <a:defRPr sz="1250">
                <a:solidFill>
                  <a:srgbClr val="64748B"/>
                </a:solidFill>
                <a:latin typeface="Arial"/>
              </a:defRPr>
            </a:pPr>
            <a:r>
              <a:t>Built software with live metrics, enterprise pilots, and government recognition.</a:t>
            </a:r>
          </a:p>
        </p:txBody>
      </p:sp>
      <p:sp>
        <p:nvSpPr>
          <p:cNvPr id="6" name="Rounded Rectangle 5"/>
          <p:cNvSpPr/>
          <p:nvPr/>
        </p:nvSpPr>
        <p:spPr>
          <a:xfrm>
            <a:off x="731520" y="1828800"/>
            <a:ext cx="3383280" cy="201168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2834640" cy="1645920"/>
          </a:xfrm>
          <a:prstGeom prst="rect">
            <a:avLst/>
          </a:prstGeom>
          <a:noFill/>
        </p:spPr>
        <p:txBody>
          <a:bodyPr wrap="square">
            <a:spAutoFit/>
          </a:bodyPr>
          <a:lstStyle/>
          <a:p>
            <a:pPr>
              <a:defRPr sz="2600" b="1">
                <a:solidFill>
                  <a:srgbClr val="1E2B27"/>
                </a:solidFill>
                <a:latin typeface="Georgia"/>
              </a:defRPr>
            </a:pPr>
            <a:r>
              <a:t>76.4%</a:t>
            </a:r>
          </a:p>
          <a:p>
            <a:pPr>
              <a:spcBef>
                <a:spcPts val="400"/>
              </a:spcBef>
              <a:defRPr sz="1200" b="1">
                <a:solidFill>
                  <a:srgbClr val="1E2B27"/>
                </a:solidFill>
                <a:latin typeface="Georgia"/>
              </a:defRPr>
            </a:pPr>
            <a:r>
              <a:t>Autonomous Resolution</a:t>
            </a:r>
          </a:p>
          <a:p>
            <a:pPr>
              <a:spcBef>
                <a:spcPts val="400"/>
              </a:spcBef>
              <a:defRPr sz="1000">
                <a:solidFill>
                  <a:srgbClr val="334155"/>
                </a:solidFill>
                <a:latin typeface="Arial"/>
              </a:defRPr>
            </a:pPr>
            <a:r>
              <a:t>Outperforming industry chatbot benchmark of 25%–35%</a:t>
            </a:r>
          </a:p>
        </p:txBody>
      </p:sp>
      <p:sp>
        <p:nvSpPr>
          <p:cNvPr id="8" name="Rounded Rectangle 7"/>
          <p:cNvSpPr/>
          <p:nvPr/>
        </p:nvSpPr>
        <p:spPr>
          <a:xfrm>
            <a:off x="4343400" y="1828800"/>
            <a:ext cx="3383280" cy="201168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2011680"/>
            <a:ext cx="2834640" cy="1645920"/>
          </a:xfrm>
          <a:prstGeom prst="rect">
            <a:avLst/>
          </a:prstGeom>
          <a:noFill/>
        </p:spPr>
        <p:txBody>
          <a:bodyPr wrap="square">
            <a:spAutoFit/>
          </a:bodyPr>
          <a:lstStyle/>
          <a:p>
            <a:pPr>
              <a:defRPr sz="2600" b="1">
                <a:solidFill>
                  <a:srgbClr val="D9A53D"/>
                </a:solidFill>
                <a:latin typeface="Georgia"/>
              </a:defRPr>
            </a:pPr>
            <a:r>
              <a:t>&lt;52s</a:t>
            </a:r>
          </a:p>
          <a:p>
            <a:pPr>
              <a:spcBef>
                <a:spcPts val="400"/>
              </a:spcBef>
              <a:defRPr sz="1200" b="1">
                <a:solidFill>
                  <a:srgbClr val="1E2B27"/>
                </a:solidFill>
                <a:latin typeface="Georgia"/>
              </a:defRPr>
            </a:pPr>
            <a:r>
              <a:t>First Response Time</a:t>
            </a:r>
          </a:p>
          <a:p>
            <a:pPr>
              <a:spcBef>
                <a:spcPts val="400"/>
              </a:spcBef>
              <a:defRPr sz="1000">
                <a:solidFill>
                  <a:srgbClr val="334155"/>
                </a:solidFill>
                <a:latin typeface="Arial"/>
              </a:defRPr>
            </a:pPr>
            <a:r>
              <a:t>Down from 4.2-hour human average across WhatsApp/Web</a:t>
            </a:r>
          </a:p>
        </p:txBody>
      </p:sp>
      <p:sp>
        <p:nvSpPr>
          <p:cNvPr id="10" name="Rounded Rectangle 9"/>
          <p:cNvSpPr/>
          <p:nvPr/>
        </p:nvSpPr>
        <p:spPr>
          <a:xfrm>
            <a:off x="7955280" y="1828800"/>
            <a:ext cx="3383280" cy="201168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011680"/>
            <a:ext cx="2834640" cy="1645920"/>
          </a:xfrm>
          <a:prstGeom prst="rect">
            <a:avLst/>
          </a:prstGeom>
          <a:noFill/>
        </p:spPr>
        <p:txBody>
          <a:bodyPr wrap="square">
            <a:spAutoFit/>
          </a:bodyPr>
          <a:lstStyle/>
          <a:p>
            <a:pPr>
              <a:defRPr sz="2600" b="1">
                <a:solidFill>
                  <a:srgbClr val="2E423C"/>
                </a:solidFill>
                <a:latin typeface="Georgia"/>
              </a:defRPr>
            </a:pPr>
            <a:r>
              <a:t>62</a:t>
            </a:r>
          </a:p>
          <a:p>
            <a:pPr>
              <a:spcBef>
                <a:spcPts val="400"/>
              </a:spcBef>
              <a:defRPr sz="1200" b="1">
                <a:solidFill>
                  <a:srgbClr val="1E2B27"/>
                </a:solidFill>
                <a:latin typeface="Georgia"/>
              </a:defRPr>
            </a:pPr>
            <a:r>
              <a:t>Production MCP Tools</a:t>
            </a:r>
          </a:p>
          <a:p>
            <a:pPr>
              <a:spcBef>
                <a:spcPts val="400"/>
              </a:spcBef>
              <a:defRPr sz="1000">
                <a:solidFill>
                  <a:srgbClr val="334155"/>
                </a:solidFill>
                <a:latin typeface="Arial"/>
              </a:defRPr>
            </a:pPr>
            <a:r>
              <a:t>Real live connector bridges on port :8790</a:t>
            </a:r>
          </a:p>
        </p:txBody>
      </p:sp>
      <p:sp>
        <p:nvSpPr>
          <p:cNvPr id="12" name="Rounded Rectangle 11"/>
          <p:cNvSpPr/>
          <p:nvPr/>
        </p:nvSpPr>
        <p:spPr>
          <a:xfrm>
            <a:off x="731520" y="4069080"/>
            <a:ext cx="3383280" cy="201168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251960"/>
            <a:ext cx="2834640" cy="1645920"/>
          </a:xfrm>
          <a:prstGeom prst="rect">
            <a:avLst/>
          </a:prstGeom>
          <a:noFill/>
        </p:spPr>
        <p:txBody>
          <a:bodyPr wrap="square">
            <a:spAutoFit/>
          </a:bodyPr>
          <a:lstStyle/>
          <a:p>
            <a:pPr>
              <a:defRPr sz="2600" b="1">
                <a:solidFill>
                  <a:srgbClr val="1E2B27"/>
                </a:solidFill>
                <a:latin typeface="Georgia"/>
              </a:defRPr>
            </a:pPr>
            <a:r>
              <a:t>18</a:t>
            </a:r>
          </a:p>
          <a:p>
            <a:pPr>
              <a:spcBef>
                <a:spcPts val="400"/>
              </a:spcBef>
              <a:defRPr sz="1200" b="1">
                <a:solidFill>
                  <a:srgbClr val="1E2B27"/>
                </a:solidFill>
                <a:latin typeface="Georgia"/>
              </a:defRPr>
            </a:pPr>
            <a:r>
              <a:t>Enterprise Pilots Queued</a:t>
            </a:r>
          </a:p>
          <a:p>
            <a:pPr>
              <a:spcBef>
                <a:spcPts val="400"/>
              </a:spcBef>
              <a:defRPr sz="1000">
                <a:solidFill>
                  <a:srgbClr val="334155"/>
                </a:solidFill>
                <a:latin typeface="Arial"/>
              </a:defRPr>
            </a:pPr>
            <a:r>
              <a:t>Qualified mid-market companies in onboarding pipeline</a:t>
            </a:r>
          </a:p>
        </p:txBody>
      </p:sp>
      <p:sp>
        <p:nvSpPr>
          <p:cNvPr id="14" name="Rounded Rectangle 13"/>
          <p:cNvSpPr/>
          <p:nvPr/>
        </p:nvSpPr>
        <p:spPr>
          <a:xfrm>
            <a:off x="4343400" y="4069080"/>
            <a:ext cx="3383280" cy="201168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4251960"/>
            <a:ext cx="2834640" cy="1645920"/>
          </a:xfrm>
          <a:prstGeom prst="rect">
            <a:avLst/>
          </a:prstGeom>
          <a:noFill/>
        </p:spPr>
        <p:txBody>
          <a:bodyPr wrap="square">
            <a:spAutoFit/>
          </a:bodyPr>
          <a:lstStyle/>
          <a:p>
            <a:pPr>
              <a:defRPr sz="2600" b="1">
                <a:solidFill>
                  <a:srgbClr val="1E2B27"/>
                </a:solidFill>
                <a:latin typeface="Georgia"/>
              </a:defRPr>
            </a:pPr>
            <a:r>
              <a:t>100%</a:t>
            </a:r>
          </a:p>
          <a:p>
            <a:pPr>
              <a:spcBef>
                <a:spcPts val="400"/>
              </a:spcBef>
              <a:defRPr sz="1200" b="1">
                <a:solidFill>
                  <a:srgbClr val="1E2B27"/>
                </a:solidFill>
                <a:latin typeface="Georgia"/>
              </a:defRPr>
            </a:pPr>
            <a:r>
              <a:t>State Durability</a:t>
            </a:r>
          </a:p>
          <a:p>
            <a:pPr>
              <a:spcBef>
                <a:spcPts val="400"/>
              </a:spcBef>
              <a:defRPr sz="1000">
                <a:solidFill>
                  <a:srgbClr val="334155"/>
                </a:solidFill>
                <a:latin typeface="Arial"/>
              </a:defRPr>
            </a:pPr>
            <a:r>
              <a:t>Zero state loss or duplicate charges via Temporal Cloud</a:t>
            </a:r>
          </a:p>
        </p:txBody>
      </p:sp>
      <p:sp>
        <p:nvSpPr>
          <p:cNvPr id="16" name="Rounded Rectangle 15"/>
          <p:cNvSpPr/>
          <p:nvPr/>
        </p:nvSpPr>
        <p:spPr>
          <a:xfrm>
            <a:off x="7955280" y="4069080"/>
            <a:ext cx="3383280" cy="201168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4251960"/>
            <a:ext cx="2834640" cy="1645920"/>
          </a:xfrm>
          <a:prstGeom prst="rect">
            <a:avLst/>
          </a:prstGeom>
          <a:noFill/>
        </p:spPr>
        <p:txBody>
          <a:bodyPr wrap="square">
            <a:spAutoFit/>
          </a:bodyPr>
          <a:lstStyle/>
          <a:p>
            <a:pPr>
              <a:defRPr sz="2600" b="1">
                <a:solidFill>
                  <a:srgbClr val="D9A53D"/>
                </a:solidFill>
                <a:latin typeface="Georgia"/>
              </a:defRPr>
            </a:pPr>
            <a:r>
              <a:t>DPIIT</a:t>
            </a:r>
          </a:p>
          <a:p>
            <a:pPr>
              <a:spcBef>
                <a:spcPts val="400"/>
              </a:spcBef>
              <a:defRPr sz="1200" b="1">
                <a:solidFill>
                  <a:srgbClr val="1E2B27"/>
                </a:solidFill>
                <a:latin typeface="Georgia"/>
              </a:defRPr>
            </a:pPr>
            <a:r>
              <a:t>Startup India Certified</a:t>
            </a:r>
          </a:p>
          <a:p>
            <a:pPr>
              <a:spcBef>
                <a:spcPts val="400"/>
              </a:spcBef>
              <a:defRPr sz="1000">
                <a:solidFill>
                  <a:srgbClr val="334155"/>
                </a:solidFill>
                <a:latin typeface="Arial"/>
              </a:defRPr>
            </a:pPr>
            <a:r>
              <a:t>Official entity recognition unlocking government grants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320040"/>
          </a:xfrm>
          <a:prstGeom prst="rect">
            <a:avLst/>
          </a:prstGeom>
          <a:noFill/>
        </p:spPr>
        <p:txBody>
          <a:bodyPr wrap="square" lIns="0" tIns="0" rIns="0" bIns="0">
            <a:spAutoFit/>
          </a:bodyPr>
          <a:lstStyle/>
          <a:p>
            <a:pPr>
              <a:defRPr sz="1050" b="1">
                <a:solidFill>
                  <a:srgbClr val="D9A53D"/>
                </a:solidFill>
                <a:latin typeface="Arial"/>
              </a:defRPr>
            </a:pPr>
            <a:r>
              <a:t>MONETIZATION &amp; UNIT ECONOMICS</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500" b="1">
                <a:solidFill>
                  <a:srgbClr val="1E2B27"/>
                </a:solidFill>
                <a:latin typeface="Georgia"/>
              </a:defRPr>
            </a:pPr>
            <a:r>
              <a:t>The 84.5% Gross Margin Economic Machine</a:t>
            </a:r>
          </a:p>
        </p:txBody>
      </p:sp>
      <p:sp>
        <p:nvSpPr>
          <p:cNvPr id="5" name="TextBox 4"/>
          <p:cNvSpPr txBox="1"/>
          <p:nvPr/>
        </p:nvSpPr>
        <p:spPr>
          <a:xfrm>
            <a:off x="731520" y="1280160"/>
            <a:ext cx="10698480" cy="411480"/>
          </a:xfrm>
          <a:prstGeom prst="rect">
            <a:avLst/>
          </a:prstGeom>
          <a:noFill/>
        </p:spPr>
        <p:txBody>
          <a:bodyPr wrap="square" lIns="0" tIns="0" rIns="0" bIns="0">
            <a:spAutoFit/>
          </a:bodyPr>
          <a:lstStyle/>
          <a:p>
            <a:pPr>
              <a:defRPr sz="1250">
                <a:solidFill>
                  <a:srgbClr val="64748B"/>
                </a:solidFill>
                <a:latin typeface="Arial"/>
              </a:defRPr>
            </a:pPr>
            <a:r>
              <a:t>Hybrid tiered subscription + consumption credits (Darex Work Credits) ensures SaaS-grade margins.</a:t>
            </a:r>
          </a:p>
        </p:txBody>
      </p:sp>
      <p:sp>
        <p:nvSpPr>
          <p:cNvPr id="6" name="Rounded Rectangle 5"/>
          <p:cNvSpPr/>
          <p:nvPr/>
        </p:nvSpPr>
        <p:spPr>
          <a:xfrm>
            <a:off x="731520" y="1828800"/>
            <a:ext cx="3383280" cy="182880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65960"/>
            <a:ext cx="2926080" cy="1554480"/>
          </a:xfrm>
          <a:prstGeom prst="rect">
            <a:avLst/>
          </a:prstGeom>
          <a:noFill/>
        </p:spPr>
        <p:txBody>
          <a:bodyPr wrap="square">
            <a:spAutoFit/>
          </a:bodyPr>
          <a:lstStyle/>
          <a:p>
            <a:pPr>
              <a:defRPr sz="1300" b="1">
                <a:solidFill>
                  <a:srgbClr val="1E2B27"/>
                </a:solidFill>
                <a:latin typeface="Georgia"/>
              </a:defRPr>
            </a:pPr>
            <a:r>
              <a:t>Starter Fleet</a:t>
            </a:r>
          </a:p>
          <a:p>
            <a:pPr>
              <a:spcBef>
                <a:spcPts val="400"/>
              </a:spcBef>
              <a:defRPr sz="2200" b="1">
                <a:solidFill>
                  <a:srgbClr val="334155"/>
                </a:solidFill>
                <a:latin typeface="Georgia"/>
              </a:defRPr>
            </a:pPr>
            <a:r>
              <a:t>$99 / mo</a:t>
            </a:r>
          </a:p>
          <a:p>
            <a:pPr>
              <a:spcBef>
                <a:spcPts val="400"/>
              </a:spcBef>
              <a:defRPr sz="1000">
                <a:solidFill>
                  <a:srgbClr val="334155"/>
                </a:solidFill>
                <a:latin typeface="Arial"/>
              </a:defRPr>
            </a:pPr>
            <a:r>
              <a:t>1 AI Employee • 1,500 DWC Credits</a:t>
            </a:r>
            <a:br/>
            <a:r>
              <a:t>Ideal for boutique 5–15 person agencies.</a:t>
            </a:r>
          </a:p>
        </p:txBody>
      </p:sp>
      <p:sp>
        <p:nvSpPr>
          <p:cNvPr id="8" name="Rounded Rectangle 7"/>
          <p:cNvSpPr/>
          <p:nvPr/>
        </p:nvSpPr>
        <p:spPr>
          <a:xfrm>
            <a:off x="4343400" y="1828800"/>
            <a:ext cx="3383280" cy="1828800"/>
          </a:xfrm>
          <a:prstGeom prst="roundRect">
            <a:avLst/>
          </a:prstGeom>
          <a:solidFill>
            <a:srgbClr val="FFFDF7"/>
          </a:solidFill>
          <a:ln w="19050">
            <a:solidFill>
              <a:srgbClr val="F0C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965960"/>
            <a:ext cx="2926080" cy="1554480"/>
          </a:xfrm>
          <a:prstGeom prst="rect">
            <a:avLst/>
          </a:prstGeom>
          <a:noFill/>
        </p:spPr>
        <p:txBody>
          <a:bodyPr wrap="square">
            <a:spAutoFit/>
          </a:bodyPr>
          <a:lstStyle/>
          <a:p>
            <a:pPr>
              <a:defRPr sz="1300" b="1">
                <a:solidFill>
                  <a:srgbClr val="1E2B27"/>
                </a:solidFill>
                <a:latin typeface="Georgia"/>
              </a:defRPr>
            </a:pPr>
            <a:r>
              <a:t>Team Fleet (Core)</a:t>
            </a:r>
          </a:p>
          <a:p>
            <a:pPr>
              <a:spcBef>
                <a:spcPts val="400"/>
              </a:spcBef>
              <a:defRPr sz="2200" b="1">
                <a:solidFill>
                  <a:srgbClr val="1E2B27"/>
                </a:solidFill>
                <a:latin typeface="Georgia"/>
              </a:defRPr>
            </a:pPr>
            <a:r>
              <a:t>$299 / mo</a:t>
            </a:r>
          </a:p>
          <a:p>
            <a:pPr>
              <a:spcBef>
                <a:spcPts val="400"/>
              </a:spcBef>
              <a:defRPr sz="1000">
                <a:solidFill>
                  <a:srgbClr val="334155"/>
                </a:solidFill>
                <a:latin typeface="Arial"/>
              </a:defRPr>
            </a:pPr>
            <a:r>
              <a:t>3 AI Employees • 6,000 DWC Credits</a:t>
            </a:r>
            <a:br/>
            <a:r>
              <a:t>Full Growth + CX + Ops workforce.</a:t>
            </a:r>
          </a:p>
        </p:txBody>
      </p:sp>
      <p:sp>
        <p:nvSpPr>
          <p:cNvPr id="10" name="Rounded Rectangle 9"/>
          <p:cNvSpPr/>
          <p:nvPr/>
        </p:nvSpPr>
        <p:spPr>
          <a:xfrm>
            <a:off x="7955280" y="1828800"/>
            <a:ext cx="3383280" cy="182880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80" y="1965960"/>
            <a:ext cx="2926080" cy="1554480"/>
          </a:xfrm>
          <a:prstGeom prst="rect">
            <a:avLst/>
          </a:prstGeom>
          <a:noFill/>
        </p:spPr>
        <p:txBody>
          <a:bodyPr wrap="square">
            <a:spAutoFit/>
          </a:bodyPr>
          <a:lstStyle/>
          <a:p>
            <a:pPr>
              <a:defRPr sz="1300" b="1">
                <a:solidFill>
                  <a:srgbClr val="1E2B27"/>
                </a:solidFill>
                <a:latin typeface="Georgia"/>
              </a:defRPr>
            </a:pPr>
            <a:r>
              <a:t>Enterprise Autonomous</a:t>
            </a:r>
          </a:p>
          <a:p>
            <a:pPr>
              <a:spcBef>
                <a:spcPts val="400"/>
              </a:spcBef>
              <a:defRPr sz="2200" b="1">
                <a:solidFill>
                  <a:srgbClr val="D9A53D"/>
                </a:solidFill>
                <a:latin typeface="Georgia"/>
              </a:defRPr>
            </a:pPr>
            <a:r>
              <a:t>$799+ / mo</a:t>
            </a:r>
          </a:p>
          <a:p>
            <a:pPr>
              <a:spcBef>
                <a:spcPts val="400"/>
              </a:spcBef>
              <a:defRPr sz="1000">
                <a:solidFill>
                  <a:srgbClr val="334155"/>
                </a:solidFill>
                <a:latin typeface="Arial"/>
              </a:defRPr>
            </a:pPr>
            <a:r>
              <a:t>Unlimited Fleets • 20,000 DWC Credits</a:t>
            </a:r>
            <a:br/>
            <a:r>
              <a:t>Custom tool bridges, SLA, dedicated VPC.</a:t>
            </a:r>
          </a:p>
        </p:txBody>
      </p:sp>
      <p:sp>
        <p:nvSpPr>
          <p:cNvPr id="12" name="Rounded Rectangle 11"/>
          <p:cNvSpPr/>
          <p:nvPr/>
        </p:nvSpPr>
        <p:spPr>
          <a:xfrm>
            <a:off x="731520" y="3931920"/>
            <a:ext cx="10698480" cy="2286000"/>
          </a:xfrm>
          <a:prstGeom prst="roundRect">
            <a:avLst/>
          </a:prstGeom>
          <a:solidFill>
            <a:srgbClr val="F5F2D8"/>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69080"/>
            <a:ext cx="10149840" cy="1920240"/>
          </a:xfrm>
          <a:prstGeom prst="rect">
            <a:avLst/>
          </a:prstGeom>
          <a:noFill/>
        </p:spPr>
        <p:txBody>
          <a:bodyPr wrap="square">
            <a:spAutoFit/>
          </a:bodyPr>
          <a:lstStyle/>
          <a:p>
            <a:pPr>
              <a:defRPr sz="1300" b="1">
                <a:solidFill>
                  <a:srgbClr val="1E2B27"/>
                </a:solidFill>
                <a:latin typeface="Georgia"/>
              </a:defRPr>
            </a:pPr>
            <a:r>
              <a:t>INSTITUTIONAL UNIT METRICS (TEAM FLEET BLENDED)</a:t>
            </a:r>
          </a:p>
          <a:p>
            <a:pPr>
              <a:spcBef>
                <a:spcPts val="400"/>
              </a:spcBef>
              <a:defRPr sz="1050">
                <a:solidFill>
                  <a:srgbClr val="334155"/>
                </a:solidFill>
                <a:latin typeface="Arial"/>
              </a:defRPr>
            </a:pPr>
            <a:r>
              <a:t>• Blended ACV: $3,600/year (Average contract value on Team Fleet)</a:t>
            </a:r>
          </a:p>
          <a:p>
            <a:pPr>
              <a:spcBef>
                <a:spcPts val="400"/>
              </a:spcBef>
              <a:defRPr sz="1050">
                <a:solidFill>
                  <a:srgbClr val="334155"/>
                </a:solidFill>
                <a:latin typeface="Arial"/>
              </a:defRPr>
            </a:pPr>
            <a:r>
              <a:t>• Compute COGS: $46.30/mo (Dynamic Model Cascading routes 85% to fast SLMs)</a:t>
            </a:r>
          </a:p>
          <a:p>
            <a:pPr>
              <a:spcBef>
                <a:spcPts val="400"/>
              </a:spcBef>
              <a:defRPr sz="1050">
                <a:solidFill>
                  <a:srgbClr val="334155"/>
                </a:solidFill>
                <a:latin typeface="Arial"/>
              </a:defRPr>
            </a:pPr>
            <a:r>
              <a:t>• Gross Profit Margin: 84.5% (High-margin pure software economics)</a:t>
            </a:r>
          </a:p>
          <a:p>
            <a:pPr>
              <a:spcBef>
                <a:spcPts val="400"/>
              </a:spcBef>
              <a:defRPr sz="1050">
                <a:solidFill>
                  <a:srgbClr val="334155"/>
                </a:solidFill>
                <a:latin typeface="Arial"/>
              </a:defRPr>
            </a:pPr>
            <a:r>
              <a:t>• Customer Acquisition Cost (CAC): $900 (Automated outbound + RevOps partners)</a:t>
            </a:r>
          </a:p>
          <a:p>
            <a:pPr>
              <a:spcBef>
                <a:spcPts val="400"/>
              </a:spcBef>
              <a:defRPr sz="1050">
                <a:solidFill>
                  <a:srgbClr val="334155"/>
                </a:solidFill>
                <a:latin typeface="Arial"/>
              </a:defRPr>
            </a:pPr>
            <a:r>
              <a:t>• Payback Period: 3.0 Months (Rapid cash recovery)</a:t>
            </a:r>
          </a:p>
          <a:p>
            <a:pPr>
              <a:spcBef>
                <a:spcPts val="400"/>
              </a:spcBef>
              <a:defRPr sz="1050">
                <a:solidFill>
                  <a:srgbClr val="334155"/>
                </a:solidFill>
                <a:latin typeface="Arial"/>
              </a:defRPr>
            </a:pPr>
            <a:r>
              <a:t>• Net Revenue Retention (NRR): 138% (Customers expand from 1 to 3+ employees)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320040"/>
          </a:xfrm>
          <a:prstGeom prst="rect">
            <a:avLst/>
          </a:prstGeom>
          <a:noFill/>
        </p:spPr>
        <p:txBody>
          <a:bodyPr wrap="square" lIns="0" tIns="0" rIns="0" bIns="0">
            <a:spAutoFit/>
          </a:bodyPr>
          <a:lstStyle/>
          <a:p>
            <a:pPr>
              <a:defRPr sz="1050" b="1">
                <a:solidFill>
                  <a:srgbClr val="D9A53D"/>
                </a:solidFill>
                <a:latin typeface="Arial"/>
              </a:defRPr>
            </a:pPr>
            <a:r>
              <a:t>COMPETITIVE LANDSCAPE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500" b="1">
                <a:solidFill>
                  <a:srgbClr val="1E2B27"/>
                </a:solidFill>
                <a:latin typeface="Georgia"/>
              </a:defRPr>
            </a:pPr>
            <a:r>
              <a:t>The Killshot Matrix: Why DareXAI Wins</a:t>
            </a:r>
          </a:p>
        </p:txBody>
      </p:sp>
      <p:sp>
        <p:nvSpPr>
          <p:cNvPr id="5" name="TextBox 4"/>
          <p:cNvSpPr txBox="1"/>
          <p:nvPr/>
        </p:nvSpPr>
        <p:spPr>
          <a:xfrm>
            <a:off x="731520" y="1280160"/>
            <a:ext cx="10698480" cy="411480"/>
          </a:xfrm>
          <a:prstGeom prst="rect">
            <a:avLst/>
          </a:prstGeom>
          <a:noFill/>
        </p:spPr>
        <p:txBody>
          <a:bodyPr wrap="square" lIns="0" tIns="0" rIns="0" bIns="0">
            <a:spAutoFit/>
          </a:bodyPr>
          <a:lstStyle/>
          <a:p>
            <a:pPr>
              <a:defRPr sz="1250">
                <a:solidFill>
                  <a:srgbClr val="64748B"/>
                </a:solidFill>
                <a:latin typeface="Arial"/>
              </a:defRPr>
            </a:pPr>
            <a:r>
              <a:t>Point-solution bots lock customers into rigid $50k contracts; DareXAI delivers a unified mid-market OS.</a:t>
            </a:r>
          </a:p>
        </p:txBody>
      </p:sp>
      <p:sp>
        <p:nvSpPr>
          <p:cNvPr id="6" name="Rounded Rectangle 5"/>
          <p:cNvSpPr/>
          <p:nvPr/>
        </p:nvSpPr>
        <p:spPr>
          <a:xfrm>
            <a:off x="731520" y="1828800"/>
            <a:ext cx="10698480" cy="438912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10149840" cy="4023360"/>
          </a:xfrm>
          <a:prstGeom prst="rect">
            <a:avLst/>
          </a:prstGeom>
          <a:noFill/>
        </p:spPr>
        <p:txBody>
          <a:bodyPr wrap="square">
            <a:spAutoFit/>
          </a:bodyPr>
          <a:lstStyle/>
          <a:p>
            <a:pPr>
              <a:spcBef>
                <a:spcPts val="800"/>
              </a:spcBef>
              <a:defRPr sz="1300" b="1">
                <a:solidFill>
                  <a:srgbClr val="9F1239"/>
                </a:solidFill>
                <a:latin typeface="Georgia"/>
              </a:defRPr>
            </a:pPr>
            <a:r>
              <a:t>11x.ai / Artisan ($50k Lock-in)</a:t>
            </a:r>
          </a:p>
          <a:p>
            <a:pPr>
              <a:defRPr sz="1050">
                <a:solidFill>
                  <a:srgbClr val="334155"/>
                </a:solidFill>
                <a:latin typeface="Arial"/>
              </a:defRPr>
            </a:pPr>
            <a:r>
              <a:t>Single-point SDR bots only. Rigid $30k–$50k annual upfront contracts. Zero support or ops capability. Email only with high failure rates.</a:t>
            </a:r>
          </a:p>
          <a:p>
            <a:pPr>
              <a:spcBef>
                <a:spcPts val="800"/>
              </a:spcBef>
              <a:defRPr sz="1300" b="1">
                <a:solidFill>
                  <a:srgbClr val="D9A53D"/>
                </a:solidFill>
                <a:latin typeface="Georgia"/>
              </a:defRPr>
            </a:pPr>
            <a:r>
              <a:t>Intercom Fin &amp; Zendesk ($85 Seat Tax)</a:t>
            </a:r>
          </a:p>
          <a:p>
            <a:pPr>
              <a:defRPr sz="1050">
                <a:solidFill>
                  <a:srgbClr val="334155"/>
                </a:solidFill>
                <a:latin typeface="Arial"/>
              </a:defRPr>
            </a:pPr>
            <a:r>
              <a:t>Trapped in legacy per-seat pricing. They charge $85/user/month plus $0.99 for every single AI resolution, penalizing customer growth.</a:t>
            </a:r>
          </a:p>
          <a:p>
            <a:pPr>
              <a:spcBef>
                <a:spcPts val="800"/>
              </a:spcBef>
              <a:defRPr sz="1300" b="1">
                <a:solidFill>
                  <a:srgbClr val="334155"/>
                </a:solidFill>
                <a:latin typeface="Georgia"/>
              </a:defRPr>
            </a:pPr>
            <a:r>
              <a:t>Sierra AI (Bret Taylor - $500k Minimums)</a:t>
            </a:r>
          </a:p>
          <a:p>
            <a:pPr>
              <a:defRPr sz="1050">
                <a:solidFill>
                  <a:srgbClr val="334155"/>
                </a:solidFill>
                <a:latin typeface="Arial"/>
              </a:defRPr>
            </a:pPr>
            <a:r>
              <a:t>Phenomenal enterprise technology, but exclusively targets Fortune 50 mega-corporations (Walmart, SiriusXM) with $500k+ bespoke deployments.</a:t>
            </a:r>
          </a:p>
          <a:p>
            <a:pPr>
              <a:spcBef>
                <a:spcPts val="800"/>
              </a:spcBef>
              <a:defRPr sz="1300" b="1">
                <a:solidFill>
                  <a:srgbClr val="1E2B27"/>
                </a:solidFill>
                <a:latin typeface="Georgia"/>
              </a:defRPr>
            </a:pPr>
            <a:r>
              <a:t>DareXAI One (The Uncontested Mid-Market Winner)</a:t>
            </a:r>
          </a:p>
          <a:p>
            <a:pPr>
              <a:defRPr sz="1050">
                <a:solidFill>
                  <a:srgbClr val="334155"/>
                </a:solidFill>
                <a:latin typeface="Arial"/>
              </a:defRPr>
            </a:pPr>
            <a:r>
              <a:t>Complete 3-Employee Autonomous OS for $299/month. 62 real MCP tool bridges. Native sub-500ms WhatsApp integration. Built specifically for the global 99%.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320040"/>
          </a:xfrm>
          <a:prstGeom prst="rect">
            <a:avLst/>
          </a:prstGeom>
          <a:noFill/>
        </p:spPr>
        <p:txBody>
          <a:bodyPr wrap="square" lIns="0" tIns="0" rIns="0" bIns="0">
            <a:spAutoFit/>
          </a:bodyPr>
          <a:lstStyle/>
          <a:p>
            <a:pPr>
              <a:defRPr sz="1050" b="1">
                <a:solidFill>
                  <a:srgbClr val="D9A53D"/>
                </a:solidFill>
                <a:latin typeface="Arial"/>
              </a:defRPr>
            </a:pPr>
            <a:r>
              <a:t>DISTRIBUTION ENGINE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500" b="1">
                <a:solidFill>
                  <a:srgbClr val="1E2B27"/>
                </a:solidFill>
                <a:latin typeface="Georgia"/>
              </a:defRPr>
            </a:pPr>
            <a:r>
              <a:t>The 4-Pillar Compounding Go-To-Market Flywheel</a:t>
            </a:r>
          </a:p>
        </p:txBody>
      </p:sp>
      <p:sp>
        <p:nvSpPr>
          <p:cNvPr id="5" name="TextBox 4"/>
          <p:cNvSpPr txBox="1"/>
          <p:nvPr/>
        </p:nvSpPr>
        <p:spPr>
          <a:xfrm>
            <a:off x="731520" y="1280160"/>
            <a:ext cx="10698480" cy="411480"/>
          </a:xfrm>
          <a:prstGeom prst="rect">
            <a:avLst/>
          </a:prstGeom>
          <a:noFill/>
        </p:spPr>
        <p:txBody>
          <a:bodyPr wrap="square" lIns="0" tIns="0" rIns="0" bIns="0">
            <a:spAutoFit/>
          </a:bodyPr>
          <a:lstStyle/>
          <a:p>
            <a:pPr>
              <a:defRPr sz="1250">
                <a:solidFill>
                  <a:srgbClr val="64748B"/>
                </a:solidFill>
                <a:latin typeface="Arial"/>
              </a:defRPr>
            </a:pPr>
            <a:r>
              <a:t>Self-reinforcing acquisition channels driving sub-$900 CAC and rapid viral enterprise adoption.</a:t>
            </a:r>
          </a:p>
        </p:txBody>
      </p:sp>
      <p:sp>
        <p:nvSpPr>
          <p:cNvPr id="6" name="Rounded Rectangle 5"/>
          <p:cNvSpPr/>
          <p:nvPr/>
        </p:nvSpPr>
        <p:spPr>
          <a:xfrm>
            <a:off x="731520" y="1828800"/>
            <a:ext cx="5212080" cy="201168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4663440" cy="1645920"/>
          </a:xfrm>
          <a:prstGeom prst="rect">
            <a:avLst/>
          </a:prstGeom>
          <a:noFill/>
        </p:spPr>
        <p:txBody>
          <a:bodyPr wrap="square">
            <a:spAutoFit/>
          </a:bodyPr>
          <a:lstStyle/>
          <a:p>
            <a:pPr>
              <a:defRPr sz="1400" b="1">
                <a:solidFill>
                  <a:srgbClr val="1E2B27"/>
                </a:solidFill>
                <a:latin typeface="Georgia"/>
              </a:defRPr>
            </a:pPr>
            <a:r>
              <a:t>1. Dogfooding Outbound</a:t>
            </a:r>
          </a:p>
          <a:p>
            <a:pPr>
              <a:spcBef>
                <a:spcPts val="400"/>
              </a:spcBef>
              <a:defRPr sz="1100" b="1">
                <a:solidFill>
                  <a:srgbClr val="1E2B27"/>
                </a:solidFill>
                <a:latin typeface="Georgia"/>
              </a:defRPr>
            </a:pPr>
            <a:r>
              <a:t>Product Acquires Its Own Customers</a:t>
            </a:r>
          </a:p>
          <a:p>
            <a:pPr>
              <a:spcBef>
                <a:spcPts val="400"/>
              </a:spcBef>
              <a:defRPr sz="1000">
                <a:solidFill>
                  <a:srgbClr val="334155"/>
                </a:solidFill>
                <a:latin typeface="Arial"/>
              </a:defRPr>
            </a:pPr>
            <a:r>
              <a:t>Our own Growth Employee prospects 1,000 ICP accounts weekly, enriches tech stacks via BuiltWith, and books 40% of our sales demos.</a:t>
            </a:r>
          </a:p>
        </p:txBody>
      </p:sp>
      <p:sp>
        <p:nvSpPr>
          <p:cNvPr id="8" name="Rounded Rectangle 7"/>
          <p:cNvSpPr/>
          <p:nvPr/>
        </p:nvSpPr>
        <p:spPr>
          <a:xfrm>
            <a:off x="6172200" y="1828800"/>
            <a:ext cx="5212080" cy="201168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2011680"/>
            <a:ext cx="4663440" cy="1645920"/>
          </a:xfrm>
          <a:prstGeom prst="rect">
            <a:avLst/>
          </a:prstGeom>
          <a:noFill/>
        </p:spPr>
        <p:txBody>
          <a:bodyPr wrap="square">
            <a:spAutoFit/>
          </a:bodyPr>
          <a:lstStyle/>
          <a:p>
            <a:pPr>
              <a:defRPr sz="1400" b="1">
                <a:solidFill>
                  <a:srgbClr val="D9A53D"/>
                </a:solidFill>
                <a:latin typeface="Georgia"/>
              </a:defRPr>
            </a:pPr>
            <a:r>
              <a:t>2. 14-Day Outcome Pilots</a:t>
            </a:r>
          </a:p>
          <a:p>
            <a:pPr>
              <a:spcBef>
                <a:spcPts val="400"/>
              </a:spcBef>
              <a:defRPr sz="1100" b="1">
                <a:solidFill>
                  <a:srgbClr val="1E2B27"/>
                </a:solidFill>
                <a:latin typeface="Georgia"/>
              </a:defRPr>
            </a:pPr>
            <a:r>
              <a:t>Risk-Free Contractual Conversion</a:t>
            </a:r>
          </a:p>
          <a:p>
            <a:pPr>
              <a:spcBef>
                <a:spcPts val="400"/>
              </a:spcBef>
              <a:defRPr sz="1000">
                <a:solidFill>
                  <a:srgbClr val="334155"/>
                </a:solidFill>
                <a:latin typeface="Arial"/>
              </a:defRPr>
            </a:pPr>
            <a:r>
              <a:t>Connects via Nango OAuth in 15 mins. Guaranteed &gt;70% autonomous resolution rate or pay $0. Drives &gt;80% pilot-to-paid conversion.</a:t>
            </a:r>
          </a:p>
        </p:txBody>
      </p:sp>
      <p:sp>
        <p:nvSpPr>
          <p:cNvPr id="10" name="Rounded Rectangle 9"/>
          <p:cNvSpPr/>
          <p:nvPr/>
        </p:nvSpPr>
        <p:spPr>
          <a:xfrm>
            <a:off x="731520" y="4069080"/>
            <a:ext cx="5212080" cy="201168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251960"/>
            <a:ext cx="4663440" cy="1645920"/>
          </a:xfrm>
          <a:prstGeom prst="rect">
            <a:avLst/>
          </a:prstGeom>
          <a:noFill/>
        </p:spPr>
        <p:txBody>
          <a:bodyPr wrap="square">
            <a:spAutoFit/>
          </a:bodyPr>
          <a:lstStyle/>
          <a:p>
            <a:pPr>
              <a:defRPr sz="1400" b="1">
                <a:solidFill>
                  <a:srgbClr val="2E423C"/>
                </a:solidFill>
                <a:latin typeface="Georgia"/>
              </a:defRPr>
            </a:pPr>
            <a:r>
              <a:t>3. RevOps Agency Alliances</a:t>
            </a:r>
          </a:p>
          <a:p>
            <a:pPr>
              <a:spcBef>
                <a:spcPts val="400"/>
              </a:spcBef>
              <a:defRPr sz="1100" b="1">
                <a:solidFill>
                  <a:srgbClr val="1E2B27"/>
                </a:solidFill>
                <a:latin typeface="Georgia"/>
              </a:defRPr>
            </a:pPr>
            <a:r>
              <a:t>20% Lifetime Revenue Share</a:t>
            </a:r>
          </a:p>
          <a:p>
            <a:pPr>
              <a:spcBef>
                <a:spcPts val="400"/>
              </a:spcBef>
              <a:defRPr sz="1000">
                <a:solidFill>
                  <a:srgbClr val="334155"/>
                </a:solidFill>
                <a:latin typeface="Arial"/>
              </a:defRPr>
            </a:pPr>
            <a:r>
              <a:t>Partnering with 75 RevOps &amp; HubSpot/Zendesk implementation agencies who deploy DareXAI into existing mid-market client bases.</a:t>
            </a:r>
          </a:p>
        </p:txBody>
      </p:sp>
      <p:sp>
        <p:nvSpPr>
          <p:cNvPr id="12" name="Rounded Rectangle 11"/>
          <p:cNvSpPr/>
          <p:nvPr/>
        </p:nvSpPr>
        <p:spPr>
          <a:xfrm>
            <a:off x="6172200" y="4069080"/>
            <a:ext cx="5212080" cy="201168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251960"/>
            <a:ext cx="4663440" cy="1645920"/>
          </a:xfrm>
          <a:prstGeom prst="rect">
            <a:avLst/>
          </a:prstGeom>
          <a:noFill/>
        </p:spPr>
        <p:txBody>
          <a:bodyPr wrap="square">
            <a:spAutoFit/>
          </a:bodyPr>
          <a:lstStyle/>
          <a:p>
            <a:pPr>
              <a:defRPr sz="1400" b="1">
                <a:solidFill>
                  <a:srgbClr val="1E2B27"/>
                </a:solidFill>
                <a:latin typeface="Georgia"/>
              </a:defRPr>
            </a:pPr>
            <a:r>
              <a:t>4. Global WhatsApp Wedge</a:t>
            </a:r>
          </a:p>
          <a:p>
            <a:pPr>
              <a:spcBef>
                <a:spcPts val="400"/>
              </a:spcBef>
              <a:defRPr sz="1100" b="1">
                <a:solidFill>
                  <a:srgbClr val="1E2B27"/>
                </a:solidFill>
                <a:latin typeface="Georgia"/>
              </a:defRPr>
            </a:pPr>
            <a:r>
              <a:t>Uncontested International TAM</a:t>
            </a:r>
          </a:p>
          <a:p>
            <a:pPr>
              <a:spcBef>
                <a:spcPts val="400"/>
              </a:spcBef>
              <a:defRPr sz="1000">
                <a:solidFill>
                  <a:srgbClr val="334155"/>
                </a:solidFill>
                <a:latin typeface="Arial"/>
              </a:defRPr>
            </a:pPr>
            <a:r>
              <a:t>Sub-500ms WhatsApp Cloud API ingress unlocking India, UK, Europe, and LATAM where commerce lives on WhatsApp, not email.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320040"/>
          </a:xfrm>
          <a:prstGeom prst="rect">
            <a:avLst/>
          </a:prstGeom>
          <a:noFill/>
        </p:spPr>
        <p:txBody>
          <a:bodyPr wrap="square" lIns="0" tIns="0" rIns="0" bIns="0">
            <a:spAutoFit/>
          </a:bodyPr>
          <a:lstStyle/>
          <a:p>
            <a:pPr>
              <a:defRPr sz="1050" b="1">
                <a:solidFill>
                  <a:srgbClr val="F0C05A"/>
                </a:solidFill>
                <a:latin typeface="Arial"/>
              </a:defRPr>
            </a:pPr>
            <a:r>
              <a:t>FUNDRAISING &amp; MILESTONES</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500" b="1">
                <a:solidFill>
                  <a:srgbClr val="FFFFFF"/>
                </a:solidFill>
                <a:latin typeface="Georgia"/>
              </a:defRPr>
            </a:pPr>
            <a:r>
              <a:t>The Seed Ask: $2.5M to Scale to $6.0M ARR</a:t>
            </a:r>
          </a:p>
        </p:txBody>
      </p:sp>
      <p:sp>
        <p:nvSpPr>
          <p:cNvPr id="5" name="TextBox 4"/>
          <p:cNvSpPr txBox="1"/>
          <p:nvPr/>
        </p:nvSpPr>
        <p:spPr>
          <a:xfrm>
            <a:off x="731520" y="1280160"/>
            <a:ext cx="10698480" cy="411480"/>
          </a:xfrm>
          <a:prstGeom prst="rect">
            <a:avLst/>
          </a:prstGeom>
          <a:noFill/>
        </p:spPr>
        <p:txBody>
          <a:bodyPr wrap="square" lIns="0" tIns="0" rIns="0" bIns="0">
            <a:spAutoFit/>
          </a:bodyPr>
          <a:lstStyle/>
          <a:p>
            <a:pPr>
              <a:defRPr sz="1250">
                <a:solidFill>
                  <a:srgbClr val="F5F2D8"/>
                </a:solidFill>
                <a:latin typeface="Arial"/>
              </a:defRPr>
            </a:pPr>
            <a:r>
              <a:t>Capital deployment focused on engineering velocity, agency distribution, and 18-month Series A inflection.</a:t>
            </a:r>
          </a:p>
        </p:txBody>
      </p:sp>
      <p:sp>
        <p:nvSpPr>
          <p:cNvPr id="6" name="Rounded Rectangle 5"/>
          <p:cNvSpPr/>
          <p:nvPr/>
        </p:nvSpPr>
        <p:spPr>
          <a:xfrm>
            <a:off x="731520" y="1828800"/>
            <a:ext cx="5212080" cy="4389120"/>
          </a:xfrm>
          <a:prstGeom prst="roundRect">
            <a:avLst/>
          </a:prstGeom>
          <a:solidFill>
            <a:srgbClr val="141E1B"/>
          </a:solidFill>
          <a:ln w="15240">
            <a:solidFill>
              <a:srgbClr val="F0C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4663440" cy="4023360"/>
          </a:xfrm>
          <a:prstGeom prst="rect">
            <a:avLst/>
          </a:prstGeom>
          <a:noFill/>
        </p:spPr>
        <p:txBody>
          <a:bodyPr wrap="square">
            <a:spAutoFit/>
          </a:bodyPr>
          <a:lstStyle/>
          <a:p>
            <a:pPr>
              <a:defRPr sz="1400" b="1">
                <a:solidFill>
                  <a:srgbClr val="F0C05A"/>
                </a:solidFill>
                <a:latin typeface="Georgia"/>
              </a:defRPr>
            </a:pPr>
            <a:r>
              <a:t>FINANCING ROUND DETAILS</a:t>
            </a:r>
          </a:p>
          <a:p>
            <a:pPr>
              <a:spcBef>
                <a:spcPts val="800"/>
              </a:spcBef>
              <a:defRPr sz="1100">
                <a:solidFill>
                  <a:srgbClr val="FAF9F0"/>
                </a:solidFill>
                <a:latin typeface="Arial"/>
              </a:defRPr>
            </a:pPr>
            <a:r>
              <a:t>• Target Seed Raise: $2,500,000 USD</a:t>
            </a:r>
          </a:p>
          <a:p>
            <a:pPr>
              <a:spcBef>
                <a:spcPts val="800"/>
              </a:spcBef>
              <a:defRPr sz="1100">
                <a:solidFill>
                  <a:srgbClr val="FAF9F0"/>
                </a:solidFill>
                <a:latin typeface="Arial"/>
              </a:defRPr>
            </a:pPr>
            <a:r>
              <a:t>• Valuation: $15,000,000 Post-Money Valuation</a:t>
            </a:r>
          </a:p>
          <a:p>
            <a:pPr>
              <a:spcBef>
                <a:spcPts val="800"/>
              </a:spcBef>
              <a:defRPr sz="1100">
                <a:solidFill>
                  <a:srgbClr val="FAF9F0"/>
                </a:solidFill>
                <a:latin typeface="Arial"/>
              </a:defRPr>
            </a:pPr>
            <a:r>
              <a:t>• Instrument: Clean Post-Money SAFE / Preferred Seed</a:t>
            </a:r>
          </a:p>
          <a:p>
            <a:pPr>
              <a:spcBef>
                <a:spcPts val="800"/>
              </a:spcBef>
              <a:defRPr sz="1100">
                <a:solidFill>
                  <a:srgbClr val="FAF9F0"/>
                </a:solidFill>
                <a:latin typeface="Arial"/>
              </a:defRPr>
            </a:pPr>
            <a:r>
              <a:t>• 55% Core AI &amp; Temporal Systems Engineering ($1.375M)</a:t>
            </a:r>
          </a:p>
          <a:p>
            <a:pPr>
              <a:spcBef>
                <a:spcPts val="800"/>
              </a:spcBef>
              <a:defRPr sz="1100">
                <a:solidFill>
                  <a:srgbClr val="FAF9F0"/>
                </a:solidFill>
                <a:latin typeface="Arial"/>
              </a:defRPr>
            </a:pPr>
            <a:r>
              <a:t>• 30% GTM Scaling &amp; RevOps Agency Channels ($750k)</a:t>
            </a:r>
          </a:p>
          <a:p>
            <a:pPr>
              <a:spcBef>
                <a:spcPts val="800"/>
              </a:spcBef>
              <a:defRPr sz="1100">
                <a:solidFill>
                  <a:srgbClr val="FAF9F0"/>
                </a:solidFill>
                <a:latin typeface="Arial"/>
              </a:defRPr>
            </a:pPr>
            <a:r>
              <a:t>• 10% Cloud Infrastructure &amp; LLM Compute Reserve ($250k)</a:t>
            </a:r>
          </a:p>
          <a:p>
            <a:pPr>
              <a:spcBef>
                <a:spcPts val="800"/>
              </a:spcBef>
              <a:defRPr sz="1100">
                <a:solidFill>
                  <a:srgbClr val="FAF9F0"/>
                </a:solidFill>
                <a:latin typeface="Arial"/>
              </a:defRPr>
            </a:pPr>
            <a:r>
              <a:t>• 5% SOC2 Type II &amp; Security Compliance ($125k)</a:t>
            </a:r>
          </a:p>
        </p:txBody>
      </p:sp>
      <p:sp>
        <p:nvSpPr>
          <p:cNvPr id="8" name="Rounded Rectangle 7"/>
          <p:cNvSpPr/>
          <p:nvPr/>
        </p:nvSpPr>
        <p:spPr>
          <a:xfrm>
            <a:off x="6217920" y="1828800"/>
            <a:ext cx="5212080" cy="4389120"/>
          </a:xfrm>
          <a:prstGeom prst="roundRect">
            <a:avLst/>
          </a:prstGeom>
          <a:solidFill>
            <a:srgbClr val="141E1B"/>
          </a:solidFill>
          <a:ln w="15240">
            <a:solidFill>
              <a:srgbClr val="F0C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011680"/>
            <a:ext cx="4663440" cy="4023360"/>
          </a:xfrm>
          <a:prstGeom prst="rect">
            <a:avLst/>
          </a:prstGeom>
          <a:noFill/>
        </p:spPr>
        <p:txBody>
          <a:bodyPr wrap="square">
            <a:spAutoFit/>
          </a:bodyPr>
          <a:lstStyle/>
          <a:p>
            <a:pPr>
              <a:defRPr sz="1400" b="1">
                <a:solidFill>
                  <a:srgbClr val="F0C05A"/>
                </a:solidFill>
                <a:latin typeface="Georgia"/>
              </a:defRPr>
            </a:pPr>
            <a:r>
              <a:t>18-MONTH ARR MILESTONES</a:t>
            </a:r>
          </a:p>
          <a:p>
            <a:pPr>
              <a:spcBef>
                <a:spcPts val="800"/>
              </a:spcBef>
              <a:defRPr sz="1200" b="1">
                <a:solidFill>
                  <a:srgbClr val="FAF9F0"/>
                </a:solidFill>
                <a:latin typeface="Georgia"/>
              </a:defRPr>
            </a:pPr>
            <a:r>
              <a:t>Today (Seed Close)</a:t>
            </a:r>
          </a:p>
          <a:p>
            <a:pPr>
              <a:defRPr sz="1000">
                <a:solidFill>
                  <a:srgbClr val="F5F2D8"/>
                </a:solidFill>
                <a:latin typeface="Arial"/>
              </a:defRPr>
            </a:pPr>
            <a:r>
              <a:t>Production stack live, 18 enterprise pilots queued</a:t>
            </a:r>
          </a:p>
          <a:p>
            <a:pPr>
              <a:spcBef>
                <a:spcPts val="800"/>
              </a:spcBef>
              <a:defRPr sz="1200" b="1">
                <a:solidFill>
                  <a:srgbClr val="FAF9F0"/>
                </a:solidFill>
                <a:latin typeface="Georgia"/>
              </a:defRPr>
            </a:pPr>
            <a:r>
              <a:t>Month 6</a:t>
            </a:r>
          </a:p>
          <a:p>
            <a:pPr>
              <a:defRPr sz="1000">
                <a:solidFill>
                  <a:srgbClr val="F5F2D8"/>
                </a:solidFill>
                <a:latin typeface="Arial"/>
              </a:defRPr>
            </a:pPr>
            <a:r>
              <a:t>150 Active Paid Fleets → $540,000 ARR</a:t>
            </a:r>
          </a:p>
          <a:p>
            <a:pPr>
              <a:spcBef>
                <a:spcPts val="800"/>
              </a:spcBef>
              <a:defRPr sz="1200" b="1">
                <a:solidFill>
                  <a:srgbClr val="FAF9F0"/>
                </a:solidFill>
                <a:latin typeface="Georgia"/>
              </a:defRPr>
            </a:pPr>
            <a:r>
              <a:t>Month 12</a:t>
            </a:r>
          </a:p>
          <a:p>
            <a:pPr>
              <a:defRPr sz="1000">
                <a:solidFill>
                  <a:srgbClr val="F5F2D8"/>
                </a:solidFill>
                <a:latin typeface="Arial"/>
              </a:defRPr>
            </a:pPr>
            <a:r>
              <a:t>500 Active Paid Fleets → $1,800,000 ARR</a:t>
            </a:r>
          </a:p>
          <a:p>
            <a:pPr>
              <a:spcBef>
                <a:spcPts val="800"/>
              </a:spcBef>
              <a:defRPr sz="1200" b="1">
                <a:solidFill>
                  <a:srgbClr val="FAF9F0"/>
                </a:solidFill>
                <a:latin typeface="Georgia"/>
              </a:defRPr>
            </a:pPr>
            <a:r>
              <a:t>Month 18 (Series A)</a:t>
            </a:r>
          </a:p>
          <a:p>
            <a:pPr>
              <a:defRPr sz="1000">
                <a:solidFill>
                  <a:srgbClr val="F5F2D8"/>
                </a:solidFill>
                <a:latin typeface="Arial"/>
              </a:defRPr>
            </a:pPr>
            <a:r>
              <a:t>1,500 Active Paid Fleets → $6,000,000 ARR ($80M+ Val)</a:t>
            </a:r>
          </a:p>
          <a:p>
            <a:pPr>
              <a:spcBef>
                <a:spcPts val="800"/>
              </a:spcBef>
              <a:defRPr sz="1200" b="1">
                <a:solidFill>
                  <a:srgbClr val="FAF9F0"/>
                </a:solidFill>
                <a:latin typeface="Georgia"/>
              </a:defRPr>
            </a:pPr>
            <a:r>
              <a:t>Target Long-Term</a:t>
            </a:r>
          </a:p>
          <a:p>
            <a:pPr>
              <a:defRPr sz="1000">
                <a:solidFill>
                  <a:srgbClr val="F5F2D8"/>
                </a:solidFill>
                <a:latin typeface="Arial"/>
              </a:defRPr>
            </a:pPr>
            <a:r>
              <a:t>18,000 Fleets → $100M+ ARR Unicorn Status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320040"/>
          </a:xfrm>
          <a:prstGeom prst="rect">
            <a:avLst/>
          </a:prstGeom>
          <a:noFill/>
        </p:spPr>
        <p:txBody>
          <a:bodyPr wrap="square" lIns="0" tIns="0" rIns="0" bIns="0">
            <a:spAutoFit/>
          </a:bodyPr>
          <a:lstStyle/>
          <a:p>
            <a:pPr>
              <a:defRPr sz="1050" b="1">
                <a:solidFill>
                  <a:srgbClr val="D9A53D"/>
                </a:solidFill>
                <a:latin typeface="Arial"/>
              </a:defRPr>
            </a:pPr>
            <a:r>
              <a:t>APPENDIX: DILIGENCE DEFENSE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500" b="1">
                <a:solidFill>
                  <a:srgbClr val="1E2B27"/>
                </a:solidFill>
                <a:latin typeface="Georgia"/>
              </a:defRPr>
            </a:pPr>
            <a:r>
              <a:t>Institutional Venture Committee Risk Teardown</a:t>
            </a:r>
          </a:p>
        </p:txBody>
      </p:sp>
      <p:sp>
        <p:nvSpPr>
          <p:cNvPr id="5" name="TextBox 4"/>
          <p:cNvSpPr txBox="1"/>
          <p:nvPr/>
        </p:nvSpPr>
        <p:spPr>
          <a:xfrm>
            <a:off x="731520" y="1280160"/>
            <a:ext cx="10698480" cy="411480"/>
          </a:xfrm>
          <a:prstGeom prst="rect">
            <a:avLst/>
          </a:prstGeom>
          <a:noFill/>
        </p:spPr>
        <p:txBody>
          <a:bodyPr wrap="square" lIns="0" tIns="0" rIns="0" bIns="0">
            <a:spAutoFit/>
          </a:bodyPr>
          <a:lstStyle/>
          <a:p>
            <a:pPr>
              <a:defRPr sz="1250">
                <a:solidFill>
                  <a:srgbClr val="64748B"/>
                </a:solidFill>
                <a:latin typeface="Arial"/>
              </a:defRPr>
            </a:pPr>
            <a:r>
              <a:t>Concrete architectural answers to the 4 toughest partner diligence inquiries.</a:t>
            </a:r>
          </a:p>
        </p:txBody>
      </p:sp>
      <p:sp>
        <p:nvSpPr>
          <p:cNvPr id="6" name="Rounded Rectangle 5"/>
          <p:cNvSpPr/>
          <p:nvPr/>
        </p:nvSpPr>
        <p:spPr>
          <a:xfrm>
            <a:off x="731520" y="1828800"/>
            <a:ext cx="10698480" cy="4389120"/>
          </a:xfrm>
          <a:prstGeom prst="roundRect">
            <a:avLst/>
          </a:prstGeom>
          <a:solidFill>
            <a:srgbClr val="FFFDF7"/>
          </a:solidFill>
          <a:ln w="12700">
            <a:solidFill>
              <a:srgbClr val="ECE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10149840" cy="4023360"/>
          </a:xfrm>
          <a:prstGeom prst="rect">
            <a:avLst/>
          </a:prstGeom>
          <a:noFill/>
        </p:spPr>
        <p:txBody>
          <a:bodyPr wrap="square">
            <a:spAutoFit/>
          </a:bodyPr>
          <a:lstStyle/>
          <a:p>
            <a:pPr>
              <a:spcBef>
                <a:spcPts val="600"/>
              </a:spcBef>
              <a:defRPr sz="1200" b="1">
                <a:solidFill>
                  <a:srgbClr val="1E2B27"/>
                </a:solidFill>
                <a:latin typeface="Georgia"/>
              </a:defRPr>
            </a:pPr>
            <a:r>
              <a:t>Q1: Foundation Model Risk — What if OpenAI launches an 'agent' feature?</a:t>
            </a:r>
          </a:p>
          <a:p>
            <a:pPr>
              <a:defRPr sz="1000">
                <a:solidFill>
                  <a:srgbClr val="334155"/>
                </a:solidFill>
                <a:latin typeface="Arial"/>
              </a:defRPr>
            </a:pPr>
            <a:r>
              <a:t>Models build intelligence; they do not build 62 real OAuth enterprise connectors, Temporal state machines, or RLS security. Every model upgrade makes DareXAI faster and cheaper because we sit upstream as the orchestration layer.</a:t>
            </a:r>
          </a:p>
          <a:p>
            <a:pPr>
              <a:spcBef>
                <a:spcPts val="600"/>
              </a:spcBef>
              <a:defRPr sz="1200" b="1">
                <a:solidFill>
                  <a:srgbClr val="D9A53D"/>
                </a:solidFill>
                <a:latin typeface="Georgia"/>
              </a:defRPr>
            </a:pPr>
            <a:r>
              <a:t>Q2: Hallucination &amp; CRM Liability — What if the agent corrupts data?</a:t>
            </a:r>
          </a:p>
          <a:p>
            <a:pPr>
              <a:defRPr sz="1000">
                <a:solidFill>
                  <a:srgbClr val="334155"/>
                </a:solidFill>
                <a:latin typeface="Arial"/>
              </a:defRPr>
            </a:pPr>
            <a:r>
              <a:t>The Autonomy Ladder (L1 to L4) enforces that sensitive actions (refunds, CRM updates, legal emails) generate Tier-3 Decision Briefs requiring 1-click human signoff in Slack/WhatsApp. Enterprises get speed without liability.</a:t>
            </a:r>
          </a:p>
          <a:p>
            <a:pPr>
              <a:spcBef>
                <a:spcPts val="600"/>
              </a:spcBef>
              <a:defRPr sz="1200" b="1">
                <a:solidFill>
                  <a:srgbClr val="2E423C"/>
                </a:solidFill>
                <a:latin typeface="Georgia"/>
              </a:defRPr>
            </a:pPr>
            <a:r>
              <a:t>Q3: Compute Margin Inflation — Will inference costs crush your gross margin?</a:t>
            </a:r>
          </a:p>
          <a:p>
            <a:pPr>
              <a:defRPr sz="1000">
                <a:solidFill>
                  <a:srgbClr val="334155"/>
                </a:solidFill>
                <a:latin typeface="Arial"/>
              </a:defRPr>
            </a:pPr>
            <a:r>
              <a:t>Dynamic Model Cascading routes 85% of traffic to lightweight SLMs, preserving an 84.5% gross margin. Unusually heavy enterprise usage is metered through Darex Work Credits (DWC).</a:t>
            </a:r>
          </a:p>
          <a:p>
            <a:pPr>
              <a:spcBef>
                <a:spcPts val="600"/>
              </a:spcBef>
              <a:defRPr sz="1200" b="1">
                <a:solidFill>
                  <a:srgbClr val="9F1239"/>
                </a:solidFill>
                <a:latin typeface="Georgia"/>
              </a:defRPr>
            </a:pPr>
            <a:r>
              <a:t>Q4: Why not Zapier?</a:t>
            </a:r>
          </a:p>
          <a:p>
            <a:pPr>
              <a:defRPr sz="1000">
                <a:solidFill>
                  <a:srgbClr val="334155"/>
                </a:solidFill>
                <a:latin typeface="Arial"/>
              </a:defRPr>
            </a:pPr>
            <a:r>
              <a:t>Zapier is a rigid if-then trigger engine that breaks on semantic nuance. DareXAI reasons over multi-system state, negotiates calendar availability, resolves support tickets, and fixes data anomalies end-to-end.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